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" name="Google Shape;18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Открытие: «В исходных данных мы видим оплату, но не видим, почему пользователь до неё дошёл. Поэтому наша задача — превратить black box в измеримую систему. Я покажу сначала, что реально происходит в продажах, затем MVP и то, как из него получить ROMI и решение по бюджету».</a:t>
            </a:r>
            <a:endParaRPr/>
          </a:p>
        </p:txBody>
      </p:sp>
      <p:sp>
        <p:nvSpPr>
          <p:cNvPr id="19" name="Google Shape;19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" name="Google Shape;3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Главный тезис: исходная система наблюдает только нижнюю часть funnel. В кейсе это сделано намеренно. Поэтому исторический ROMI до копейки не восстанавливается — и сильное решение не должно подменять отсутствующие данные моделью.</a:t>
            </a:r>
            <a:endParaRPr/>
          </a:p>
        </p:txBody>
      </p:sp>
      <p:sp>
        <p:nvSpPr>
          <p:cNvPr id="37" name="Google Shape;3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" name="Google Shape;8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Здесь коротко показываем факты. Важная аккуратность: 3.3% — это observed repeat purchase rate за доступное 38-дневное окно, а не полноценный lifetime retention. Пики продаж тоже нельзя объявлять рекламным эффектом без экспериментального дизайна.</a:t>
            </a:r>
            <a:endParaRPr/>
          </a:p>
        </p:txBody>
      </p:sp>
      <p:sp>
        <p:nvSpPr>
          <p:cNvPr id="82" name="Google Shape;8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Это важный слайд для жюри. Мы не говорим «у нас плохие данные». Мы говорим: вот граница наблюдаемости и вот как именно мы её снимаем.</a:t>
            </a:r>
            <a:endParaRPr/>
          </a:p>
        </p:txBody>
      </p:sp>
      <p:sp>
        <p:nvSpPr>
          <p:cNvPr id="132" name="Google Shape;132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Здесь важно сказать, что MVP — это уже работающий контур команды: Telegram, уникальные ссылки, промокоды и административная панель. В презентации не нужно обещать конкретные поля или технические детали, которых нет в коде; здесь показываем только реальные компоненты, которые заявила команда.</a:t>
            </a:r>
            <a:endParaRPr/>
          </a:p>
        </p:txBody>
      </p:sp>
      <p:sp>
        <p:nvSpPr>
          <p:cNvPr id="174" name="Google Shape;174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1" name="Google Shape;22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Ключевой архитектурный принцип: сохраняем все touchpoints пользователя, а не только последний. Иначе multi-touch attribution становится невозможной. При недетерминированном связывании не надо «угадывать» источник — лучше честно оставить unknown/organic.</a:t>
            </a:r>
            <a:endParaRPr/>
          </a:p>
        </p:txBody>
      </p:sp>
      <p:sp>
        <p:nvSpPr>
          <p:cNvPr id="222" name="Google Shape;22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9" name="Google Shape;25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Attribution и incrementality нельзя смешивать. В первой метрике мы распределяем уже случившуюся выручку. Во второй пытаемся оценить причинный дополнительный эффект. На защите это стоит проговорить буквально одной фразой.</a:t>
            </a:r>
            <a:endParaRPr/>
          </a:p>
        </p:txBody>
      </p:sp>
      <p:sp>
        <p:nvSpPr>
          <p:cNvPr id="260" name="Google Shape;260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4" name="Google Shape;30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Основная идея: перед следующим рекламным запуском нужно заранее определить treatment, control, primary metric и attribution window. Тогда мы сможем впервые отвечать не только «кому приписали», но и «сколько продаж реклама действительно добавила».</a:t>
            </a:r>
            <a:endParaRPr/>
          </a:p>
        </p:txBody>
      </p:sp>
      <p:sp>
        <p:nvSpPr>
          <p:cNvPr id="305" name="Google Shape;305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7" name="Google Shape;33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Здесь не надо продавать ML ради ML. В условиях короткой истории правильный ответ — baseline + backtest. Настоящая ценность появится после накопления маркетинговых признаков и затрат.</a:t>
            </a:r>
            <a:endParaRPr/>
          </a:p>
        </p:txBody>
      </p:sp>
      <p:sp>
        <p:nvSpPr>
          <p:cNvPr id="338" name="Google Shape;338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1" name="Google Shape;37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Финал: на вопрос владельца «куда направить 300 тысяч?» мы не обязаны сейчас назвать конкретный канал — исторически для этого нет данных. Но мы можем показать воспроизводимый механизм: уникальные placements, touchpoints, стоимость, attribution, holdout и затем перераспределение бюджета по incremental ROI.</a:t>
            </a:r>
            <a:endParaRPr/>
          </a:p>
        </p:txBody>
      </p:sp>
      <p:sp>
        <p:nvSpPr>
          <p:cNvPr id="372" name="Google Shape;372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STER">
  <p:cSld name="MASTER">
    <p:bg>
      <p:bgPr>
        <a:solidFill>
          <a:srgbClr val="F7F8FA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11827"/>
          </a:solidFill>
          <a:ln cap="flat" cmpd="sng" w="12700">
            <a:solidFill>
              <a:srgbClr val="1118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502920" y="6492240"/>
            <a:ext cx="5029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Поступашки • Marketing measurement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11475720" y="6437376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spcBef>
                <a:spcPts val="0"/>
              </a:spcBef>
              <a:buNone/>
              <a:defRPr b="0" i="0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spcBef>
                <a:spcPts val="0"/>
              </a:spcBef>
              <a:buNone/>
              <a:defRPr b="0" i="0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spcBef>
                <a:spcPts val="0"/>
              </a:spcBef>
              <a:buNone/>
              <a:defRPr b="0" i="0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spcBef>
                <a:spcPts val="0"/>
              </a:spcBef>
              <a:buNone/>
              <a:defRPr b="0" i="0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spcBef>
                <a:spcPts val="0"/>
              </a:spcBef>
              <a:buNone/>
              <a:defRPr b="0" i="0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spcBef>
                <a:spcPts val="0"/>
              </a:spcBef>
              <a:buNone/>
              <a:defRPr b="0" i="0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spcBef>
                <a:spcPts val="0"/>
              </a:spcBef>
              <a:buNone/>
              <a:defRPr b="0" i="0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spcBef>
                <a:spcPts val="0"/>
              </a:spcBef>
              <a:buNone/>
              <a:defRPr b="0" i="0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spcBef>
                <a:spcPts val="0"/>
              </a:spcBef>
              <a:buNone/>
              <a:defRPr b="0" i="0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11475720" y="6437376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109728"/>
            <a:ext cx="12191695" cy="6400800"/>
          </a:xfrm>
          <a:prstGeom prst="rect">
            <a:avLst/>
          </a:prstGeom>
          <a:solidFill>
            <a:srgbClr val="111827"/>
          </a:solidFill>
          <a:ln cap="flat" cmpd="sng" w="12700">
            <a:solidFill>
              <a:srgbClr val="1118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/>
          <p:nvPr/>
        </p:nvSpPr>
        <p:spPr>
          <a:xfrm>
            <a:off x="8046720" y="-182880"/>
            <a:ext cx="4297680" cy="4297680"/>
          </a:xfrm>
          <a:prstGeom prst="arc">
            <a:avLst>
              <a:gd fmla="val 16200000" name="adj1"/>
              <a:gd fmla="val 0" name="adj2"/>
            </a:avLst>
          </a:prstGeom>
          <a:solidFill>
            <a:srgbClr val="111827">
              <a:alpha val="0"/>
            </a:srgbClr>
          </a:solidFill>
          <a:ln cap="flat" cmpd="sng" w="38100">
            <a:solidFill>
              <a:srgbClr val="2563EB">
                <a:alpha val="3490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4"/>
          <p:cNvSpPr/>
          <p:nvPr/>
        </p:nvSpPr>
        <p:spPr>
          <a:xfrm>
            <a:off x="8686800" y="914400"/>
            <a:ext cx="2926080" cy="2926080"/>
          </a:xfrm>
          <a:prstGeom prst="arc">
            <a:avLst>
              <a:gd fmla="val 16200000" name="adj1"/>
              <a:gd fmla="val 0" name="adj2"/>
            </a:avLst>
          </a:prstGeom>
          <a:solidFill>
            <a:srgbClr val="111827">
              <a:alpha val="0"/>
            </a:srgbClr>
          </a:solidFill>
          <a:ln cap="flat" cmpd="sng" w="38100">
            <a:solidFill>
              <a:srgbClr val="10B981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4"/>
          <p:cNvSpPr/>
          <p:nvPr/>
        </p:nvSpPr>
        <p:spPr>
          <a:xfrm>
            <a:off x="685800" y="1234440"/>
            <a:ext cx="83210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ПОСТУПАШКИ: КУДА</a:t>
            </a:r>
            <a:endParaRPr b="0" i="0" sz="3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ИСЧЕЗАЕТ МАРКЕТИНГ?</a:t>
            </a:r>
            <a:endParaRPr b="0" i="0" sz="3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4"/>
          <p:cNvSpPr/>
          <p:nvPr/>
        </p:nvSpPr>
        <p:spPr>
          <a:xfrm>
            <a:off x="713232" y="2670048"/>
            <a:ext cx="7040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От факта покупки к измеримому marketing funnel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4"/>
          <p:cNvSpPr/>
          <p:nvPr/>
        </p:nvSpPr>
        <p:spPr>
          <a:xfrm>
            <a:off x="713232" y="3246120"/>
            <a:ext cx="2423160" cy="292608"/>
          </a:xfrm>
          <a:prstGeom prst="roundRect">
            <a:avLst>
              <a:gd fmla="val 46875" name="adj"/>
            </a:avLst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/>
          <p:nvPr/>
        </p:nvSpPr>
        <p:spPr>
          <a:xfrm>
            <a:off x="713232" y="3278124"/>
            <a:ext cx="2423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EDA + MEASUREMENT SYSTEM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4"/>
          <p:cNvSpPr/>
          <p:nvPr/>
        </p:nvSpPr>
        <p:spPr>
          <a:xfrm>
            <a:off x="3273552" y="3246120"/>
            <a:ext cx="1554480" cy="292608"/>
          </a:xfrm>
          <a:prstGeom prst="roundRect">
            <a:avLst>
              <a:gd fmla="val 46875" name="adj"/>
            </a:avLst>
          </a:prstGeom>
          <a:solidFill>
            <a:srgbClr val="0F766E"/>
          </a:solidFill>
          <a:ln cap="flat" cmpd="sng" w="12700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4"/>
          <p:cNvSpPr/>
          <p:nvPr/>
        </p:nvSpPr>
        <p:spPr>
          <a:xfrm>
            <a:off x="3273552" y="3278124"/>
            <a:ext cx="1554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MVP TELEGRAM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731520" y="4069080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Главная идея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731520" y="4343400"/>
            <a:ext cx="576072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Мы умеем видеть деньги.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Теперь делаем видимым путь к ним.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731520" y="5989320"/>
            <a:ext cx="6400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Hackathon • Analytics outside SQL • 12.09.2026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4"/>
          <p:cNvSpPr txBox="1"/>
          <p:nvPr>
            <p:ph idx="4294967295" type="sldNum"/>
          </p:nvPr>
        </p:nvSpPr>
        <p:spPr>
          <a:xfrm>
            <a:off x="11475720" y="6437376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6B728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/>
          <p:nvPr/>
        </p:nvSpPr>
        <p:spPr>
          <a:xfrm>
            <a:off x="548640" y="347472"/>
            <a:ext cx="10972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1 • ПРОБЛЕМА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5"/>
          <p:cNvSpPr/>
          <p:nvPr/>
        </p:nvSpPr>
        <p:spPr>
          <a:xfrm>
            <a:off x="548640" y="612648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Сейчас воронка — black box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5"/>
          <p:cNvSpPr/>
          <p:nvPr/>
        </p:nvSpPr>
        <p:spPr>
          <a:xfrm>
            <a:off x="566928" y="1261872"/>
            <a:ext cx="7772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Продажу мы фиксируем. Маркетинговое касание — нет.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5"/>
          <p:cNvSpPr/>
          <p:nvPr/>
        </p:nvSpPr>
        <p:spPr>
          <a:xfrm>
            <a:off x="594360" y="1965960"/>
            <a:ext cx="1508760" cy="1170432"/>
          </a:xfrm>
          <a:prstGeom prst="roundRect">
            <a:avLst>
              <a:gd fmla="val 9375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5"/>
          <p:cNvSpPr/>
          <p:nvPr/>
        </p:nvSpPr>
        <p:spPr>
          <a:xfrm>
            <a:off x="704088" y="2185416"/>
            <a:ext cx="128930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Реклама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5"/>
          <p:cNvSpPr/>
          <p:nvPr/>
        </p:nvSpPr>
        <p:spPr>
          <a:xfrm>
            <a:off x="704088" y="2587752"/>
            <a:ext cx="128930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не системно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5" name="Google Shape;45;p5"/>
          <p:cNvCxnSpPr/>
          <p:nvPr/>
        </p:nvCxnSpPr>
        <p:spPr>
          <a:xfrm>
            <a:off x="2148840" y="2551176"/>
            <a:ext cx="256032" cy="0"/>
          </a:xfrm>
          <a:prstGeom prst="straightConnector1">
            <a:avLst/>
          </a:prstGeom>
          <a:noFill/>
          <a:ln cap="flat" cmpd="sng" w="21575">
            <a:solidFill>
              <a:srgbClr val="6B728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6" name="Google Shape;46;p5"/>
          <p:cNvSpPr/>
          <p:nvPr/>
        </p:nvSpPr>
        <p:spPr>
          <a:xfrm>
            <a:off x="2450592" y="1965960"/>
            <a:ext cx="1508760" cy="1170432"/>
          </a:xfrm>
          <a:prstGeom prst="roundRect">
            <a:avLst>
              <a:gd fmla="val 9375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322579988" rotWithShape="0" algn="bl" dist="161290000">
              <a:srgbClr val="000000">
                <a:alpha val="1254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5"/>
          <p:cNvSpPr/>
          <p:nvPr/>
        </p:nvSpPr>
        <p:spPr>
          <a:xfrm>
            <a:off x="2560320" y="2185416"/>
            <a:ext cx="128930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Переход / просмотр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5"/>
          <p:cNvSpPr/>
          <p:nvPr/>
        </p:nvSpPr>
        <p:spPr>
          <a:xfrm>
            <a:off x="2560320" y="2587752"/>
            <a:ext cx="128930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частично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9" name="Google Shape;49;p5"/>
          <p:cNvCxnSpPr/>
          <p:nvPr/>
        </p:nvCxnSpPr>
        <p:spPr>
          <a:xfrm>
            <a:off x="4005072" y="2551176"/>
            <a:ext cx="256032" cy="0"/>
          </a:xfrm>
          <a:prstGeom prst="straightConnector1">
            <a:avLst/>
          </a:prstGeom>
          <a:noFill/>
          <a:ln cap="flat" cmpd="sng" w="21575">
            <a:solidFill>
              <a:srgbClr val="6B728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0" name="Google Shape;50;p5"/>
          <p:cNvSpPr/>
          <p:nvPr/>
        </p:nvSpPr>
        <p:spPr>
          <a:xfrm>
            <a:off x="4306824" y="1965960"/>
            <a:ext cx="1463040" cy="1170432"/>
          </a:xfrm>
          <a:prstGeom prst="roundRect">
            <a:avLst>
              <a:gd fmla="val 9375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4096766062500" rotWithShape="0" algn="bl" dist="-316400192">
              <a:srgbClr val="000000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5"/>
          <p:cNvSpPr/>
          <p:nvPr/>
        </p:nvSpPr>
        <p:spPr>
          <a:xfrm>
            <a:off x="4416552" y="2185416"/>
            <a:ext cx="124358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Telegram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5"/>
          <p:cNvSpPr/>
          <p:nvPr/>
        </p:nvSpPr>
        <p:spPr>
          <a:xfrm>
            <a:off x="4416552" y="2587752"/>
            <a:ext cx="124358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есть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3" name="Google Shape;53;p5"/>
          <p:cNvCxnSpPr/>
          <p:nvPr/>
        </p:nvCxnSpPr>
        <p:spPr>
          <a:xfrm>
            <a:off x="5815584" y="2551176"/>
            <a:ext cx="256032" cy="0"/>
          </a:xfrm>
          <a:prstGeom prst="straightConnector1">
            <a:avLst/>
          </a:prstGeom>
          <a:noFill/>
          <a:ln cap="flat" cmpd="sng" w="21575">
            <a:solidFill>
              <a:srgbClr val="6B728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4" name="Google Shape;54;p5"/>
          <p:cNvSpPr/>
          <p:nvPr/>
        </p:nvSpPr>
        <p:spPr>
          <a:xfrm>
            <a:off x="6117336" y="1965960"/>
            <a:ext cx="1463040" cy="1170432"/>
          </a:xfrm>
          <a:prstGeom prst="roundRect">
            <a:avLst>
              <a:gd fmla="val 9375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52028925000000000" rotWithShape="0" algn="bl" dist="1806950656">
              <a:srgbClr val="000000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5"/>
          <p:cNvSpPr/>
          <p:nvPr/>
        </p:nvSpPr>
        <p:spPr>
          <a:xfrm>
            <a:off x="6227064" y="2185416"/>
            <a:ext cx="124358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Менеджер / lead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5"/>
          <p:cNvSpPr/>
          <p:nvPr/>
        </p:nvSpPr>
        <p:spPr>
          <a:xfrm>
            <a:off x="6227064" y="2587752"/>
            <a:ext cx="124358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слабая наблюдаемость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7" name="Google Shape;57;p5"/>
          <p:cNvCxnSpPr/>
          <p:nvPr/>
        </p:nvCxnSpPr>
        <p:spPr>
          <a:xfrm>
            <a:off x="7626096" y="2551176"/>
            <a:ext cx="256032" cy="0"/>
          </a:xfrm>
          <a:prstGeom prst="straightConnector1">
            <a:avLst/>
          </a:prstGeom>
          <a:noFill/>
          <a:ln cap="flat" cmpd="sng" w="21575">
            <a:solidFill>
              <a:srgbClr val="6B728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8" name="Google Shape;58;p5"/>
          <p:cNvSpPr/>
          <p:nvPr/>
        </p:nvSpPr>
        <p:spPr>
          <a:xfrm>
            <a:off x="7927848" y="1965960"/>
            <a:ext cx="1463040" cy="1170432"/>
          </a:xfrm>
          <a:prstGeom prst="roundRect">
            <a:avLst>
              <a:gd fmla="val 9375" name="adj"/>
            </a:avLst>
          </a:prstGeom>
          <a:solidFill>
            <a:srgbClr val="EFFAF7"/>
          </a:solidFill>
          <a:ln cap="flat" cmpd="sng" w="12700">
            <a:solidFill>
              <a:srgbClr val="B7E4D5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000000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8037576" y="2185416"/>
            <a:ext cx="124358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Оплата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8037576" y="2587752"/>
            <a:ext cx="124358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Arial"/>
                <a:ea typeface="Arial"/>
                <a:cs typeface="Arial"/>
                <a:sym typeface="Arial"/>
              </a:rPr>
              <a:t>есть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1" name="Google Shape;61;p5"/>
          <p:cNvCxnSpPr/>
          <p:nvPr/>
        </p:nvCxnSpPr>
        <p:spPr>
          <a:xfrm>
            <a:off x="9436608" y="2551176"/>
            <a:ext cx="256032" cy="0"/>
          </a:xfrm>
          <a:prstGeom prst="straightConnector1">
            <a:avLst/>
          </a:prstGeom>
          <a:noFill/>
          <a:ln cap="flat" cmpd="sng" w="21575">
            <a:solidFill>
              <a:srgbClr val="6B728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2" name="Google Shape;62;p5"/>
          <p:cNvSpPr/>
          <p:nvPr/>
        </p:nvSpPr>
        <p:spPr>
          <a:xfrm>
            <a:off x="9738360" y="1965960"/>
            <a:ext cx="1463040" cy="1170432"/>
          </a:xfrm>
          <a:prstGeom prst="roundRect">
            <a:avLst>
              <a:gd fmla="val 9375" name="adj"/>
            </a:avLst>
          </a:prstGeom>
          <a:solidFill>
            <a:srgbClr val="EFFAF7"/>
          </a:solidFill>
          <a:ln cap="flat" cmpd="sng" w="12700">
            <a:solidFill>
              <a:srgbClr val="B7E4D5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000000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5"/>
          <p:cNvSpPr/>
          <p:nvPr/>
        </p:nvSpPr>
        <p:spPr>
          <a:xfrm>
            <a:off x="9848088" y="2185416"/>
            <a:ext cx="124358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Курс / revenue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9848088" y="2587752"/>
            <a:ext cx="124358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Arial"/>
                <a:ea typeface="Arial"/>
                <a:cs typeface="Arial"/>
                <a:sym typeface="Arial"/>
              </a:rPr>
              <a:t>есть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8589300" y="3373920"/>
            <a:ext cx="2697600" cy="2880300"/>
          </a:xfrm>
          <a:prstGeom prst="roundRect">
            <a:avLst>
              <a:gd fmla="val 4068" name="adj"/>
            </a:avLst>
          </a:prstGeom>
          <a:solidFill>
            <a:srgbClr val="111827"/>
          </a:solidFill>
          <a:ln cap="flat" cmpd="sng" w="12700">
            <a:solidFill>
              <a:srgbClr val="111827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000000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5"/>
          <p:cNvSpPr/>
          <p:nvPr/>
        </p:nvSpPr>
        <p:spPr>
          <a:xfrm>
            <a:off x="8836188" y="3693960"/>
            <a:ext cx="21945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Почему нельзя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сразу посчитать ROMI?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8836188" y="4516920"/>
            <a:ext cx="2011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В base.xlsx нет: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8863620" y="4900968"/>
            <a:ext cx="91500" cy="91500"/>
          </a:xfrm>
          <a:prstGeom prst="ellipse">
            <a:avLst/>
          </a:prstGeom>
          <a:solidFill>
            <a:srgbClr val="60A5FA"/>
          </a:solidFill>
          <a:ln cap="flat" cmpd="sng" w="12700">
            <a:solidFill>
              <a:srgbClr val="60A5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5"/>
          <p:cNvSpPr/>
          <p:nvPr/>
        </p:nvSpPr>
        <p:spPr>
          <a:xfrm>
            <a:off x="9046500" y="4827816"/>
            <a:ext cx="17832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source / placement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5"/>
          <p:cNvSpPr/>
          <p:nvPr/>
        </p:nvSpPr>
        <p:spPr>
          <a:xfrm>
            <a:off x="8863620" y="5211864"/>
            <a:ext cx="91500" cy="91500"/>
          </a:xfrm>
          <a:prstGeom prst="ellipse">
            <a:avLst/>
          </a:prstGeom>
          <a:solidFill>
            <a:srgbClr val="60A5FA"/>
          </a:solidFill>
          <a:ln cap="flat" cmpd="sng" w="12700">
            <a:solidFill>
              <a:srgbClr val="60A5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5"/>
          <p:cNvSpPr/>
          <p:nvPr/>
        </p:nvSpPr>
        <p:spPr>
          <a:xfrm>
            <a:off x="9046500" y="5138712"/>
            <a:ext cx="17832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marketing cost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8863620" y="5522760"/>
            <a:ext cx="91500" cy="91500"/>
          </a:xfrm>
          <a:prstGeom prst="ellipse">
            <a:avLst/>
          </a:prstGeom>
          <a:solidFill>
            <a:srgbClr val="60A5FA"/>
          </a:solidFill>
          <a:ln cap="flat" cmpd="sng" w="12700">
            <a:solidFill>
              <a:srgbClr val="60A5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5"/>
          <p:cNvSpPr/>
          <p:nvPr/>
        </p:nvSpPr>
        <p:spPr>
          <a:xfrm>
            <a:off x="9046500" y="5449608"/>
            <a:ext cx="17832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touchpoints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8863620" y="5833656"/>
            <a:ext cx="91500" cy="91500"/>
          </a:xfrm>
          <a:prstGeom prst="ellipse">
            <a:avLst/>
          </a:prstGeom>
          <a:solidFill>
            <a:srgbClr val="60A5FA"/>
          </a:solidFill>
          <a:ln cap="flat" cmpd="sng" w="12700">
            <a:solidFill>
              <a:srgbClr val="60A5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5"/>
          <p:cNvSpPr/>
          <p:nvPr/>
        </p:nvSpPr>
        <p:spPr>
          <a:xfrm>
            <a:off x="9046500" y="5760504"/>
            <a:ext cx="17832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causal control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594360" y="3931920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Следствие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594360" y="4224528"/>
            <a:ext cx="7680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Мы можем анализировать продажи постфактум,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но не можем честно сказать, какой placement создал revenue.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5"/>
          <p:cNvSpPr txBox="1"/>
          <p:nvPr>
            <p:ph idx="4294967295" type="sldNum"/>
          </p:nvPr>
        </p:nvSpPr>
        <p:spPr>
          <a:xfrm>
            <a:off x="11475720" y="6437376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6B728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6"/>
          <p:cNvSpPr/>
          <p:nvPr/>
        </p:nvSpPr>
        <p:spPr>
          <a:xfrm>
            <a:off x="548640" y="347472"/>
            <a:ext cx="10972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2 • EDA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6"/>
          <p:cNvSpPr/>
          <p:nvPr/>
        </p:nvSpPr>
        <p:spPr>
          <a:xfrm>
            <a:off x="548640" y="612648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Что мы узнали из продаж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6"/>
          <p:cNvSpPr/>
          <p:nvPr/>
        </p:nvSpPr>
        <p:spPr>
          <a:xfrm>
            <a:off x="594360" y="1234440"/>
            <a:ext cx="1965960" cy="987552"/>
          </a:xfrm>
          <a:prstGeom prst="roundRect">
            <a:avLst>
              <a:gd fmla="val 11111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000000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6"/>
          <p:cNvSpPr/>
          <p:nvPr/>
        </p:nvSpPr>
        <p:spPr>
          <a:xfrm>
            <a:off x="731520" y="1353312"/>
            <a:ext cx="16916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795</a:t>
            </a:r>
            <a:endParaRPr b="0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6"/>
          <p:cNvSpPr/>
          <p:nvPr/>
        </p:nvSpPr>
        <p:spPr>
          <a:xfrm>
            <a:off x="731520" y="1847088"/>
            <a:ext cx="1691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строк продаж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6"/>
          <p:cNvSpPr/>
          <p:nvPr/>
        </p:nvSpPr>
        <p:spPr>
          <a:xfrm>
            <a:off x="2724912" y="1234440"/>
            <a:ext cx="2148840" cy="987552"/>
          </a:xfrm>
          <a:prstGeom prst="roundRect">
            <a:avLst>
              <a:gd fmla="val 11111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000000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6"/>
          <p:cNvSpPr/>
          <p:nvPr/>
        </p:nvSpPr>
        <p:spPr>
          <a:xfrm>
            <a:off x="2862072" y="1353312"/>
            <a:ext cx="1874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0F766E"/>
                </a:solidFill>
                <a:latin typeface="Arial"/>
                <a:ea typeface="Arial"/>
                <a:cs typeface="Arial"/>
                <a:sym typeface="Arial"/>
              </a:rPr>
              <a:t>627</a:t>
            </a:r>
            <a:endParaRPr b="0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6"/>
          <p:cNvSpPr/>
          <p:nvPr/>
        </p:nvSpPr>
        <p:spPr>
          <a:xfrm>
            <a:off x="2862072" y="1847088"/>
            <a:ext cx="1874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заказов по правилу &gt;1 ч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6"/>
          <p:cNvSpPr/>
          <p:nvPr/>
        </p:nvSpPr>
        <p:spPr>
          <a:xfrm>
            <a:off x="5047488" y="1234440"/>
            <a:ext cx="2148840" cy="987552"/>
          </a:xfrm>
          <a:prstGeom prst="roundRect">
            <a:avLst>
              <a:gd fmla="val 11111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000000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6"/>
          <p:cNvSpPr/>
          <p:nvPr/>
        </p:nvSpPr>
        <p:spPr>
          <a:xfrm>
            <a:off x="5184648" y="1353312"/>
            <a:ext cx="1874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7C3AED"/>
                </a:solidFill>
                <a:latin typeface="Arial"/>
                <a:ea typeface="Arial"/>
                <a:cs typeface="Arial"/>
                <a:sym typeface="Arial"/>
              </a:rPr>
              <a:t>606</a:t>
            </a:r>
            <a:endParaRPr b="0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6"/>
          <p:cNvSpPr/>
          <p:nvPr/>
        </p:nvSpPr>
        <p:spPr>
          <a:xfrm>
            <a:off x="5184648" y="1847088"/>
            <a:ext cx="1874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уникальных покупателей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6"/>
          <p:cNvSpPr/>
          <p:nvPr/>
        </p:nvSpPr>
        <p:spPr>
          <a:xfrm>
            <a:off x="7370064" y="1234440"/>
            <a:ext cx="2468880" cy="987552"/>
          </a:xfrm>
          <a:prstGeom prst="roundRect">
            <a:avLst>
              <a:gd fmla="val 11111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000000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6"/>
          <p:cNvSpPr/>
          <p:nvPr/>
        </p:nvSpPr>
        <p:spPr>
          <a:xfrm>
            <a:off x="7507224" y="1353312"/>
            <a:ext cx="21945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rPr>
              <a:t>3,3%</a:t>
            </a:r>
            <a:endParaRPr b="0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6"/>
          <p:cNvSpPr/>
          <p:nvPr/>
        </p:nvSpPr>
        <p:spPr>
          <a:xfrm>
            <a:off x="7507224" y="1847088"/>
            <a:ext cx="21945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повторный заказ в окне наблюдения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6"/>
          <p:cNvSpPr/>
          <p:nvPr/>
        </p:nvSpPr>
        <p:spPr>
          <a:xfrm>
            <a:off x="9994392" y="1234440"/>
            <a:ext cx="1600200" cy="987552"/>
          </a:xfrm>
          <a:prstGeom prst="roundRect">
            <a:avLst>
              <a:gd fmla="val 11111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000000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6"/>
          <p:cNvSpPr/>
          <p:nvPr/>
        </p:nvSpPr>
        <p:spPr>
          <a:xfrm>
            <a:off x="10131552" y="1353312"/>
            <a:ext cx="1325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059669"/>
                </a:solidFill>
                <a:latin typeface="Arial"/>
                <a:ea typeface="Arial"/>
                <a:cs typeface="Arial"/>
                <a:sym typeface="Arial"/>
              </a:rPr>
              <a:t>≈25%</a:t>
            </a:r>
            <a:endParaRPr b="0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6"/>
          <p:cNvSpPr/>
          <p:nvPr/>
        </p:nvSpPr>
        <p:spPr>
          <a:xfrm>
            <a:off x="10131552" y="1847088"/>
            <a:ext cx="1325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заказов содержат 2+ курса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6"/>
          <p:cNvSpPr/>
          <p:nvPr/>
        </p:nvSpPr>
        <p:spPr>
          <a:xfrm>
            <a:off x="594350" y="2468875"/>
            <a:ext cx="6583800" cy="3400800"/>
          </a:xfrm>
          <a:prstGeom prst="roundRect">
            <a:avLst>
              <a:gd fmla="val 3478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000000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6"/>
          <p:cNvSpPr/>
          <p:nvPr/>
        </p:nvSpPr>
        <p:spPr>
          <a:xfrm>
            <a:off x="822960" y="2724912"/>
            <a:ext cx="2926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Выручка по периодам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6"/>
          <p:cNvSpPr/>
          <p:nvPr/>
        </p:nvSpPr>
        <p:spPr>
          <a:xfrm>
            <a:off x="841248" y="3264408"/>
            <a:ext cx="960120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04–07.08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6"/>
          <p:cNvSpPr/>
          <p:nvPr/>
        </p:nvSpPr>
        <p:spPr>
          <a:xfrm>
            <a:off x="1847088" y="3218688"/>
            <a:ext cx="445223" cy="219456"/>
          </a:xfrm>
          <a:prstGeom prst="roundRect">
            <a:avLst>
              <a:gd fmla="val 33333" name="adj"/>
            </a:avLst>
          </a:prstGeom>
          <a:solidFill>
            <a:srgbClr val="6B7280"/>
          </a:solidFill>
          <a:ln cap="flat" cmpd="sng" w="12700">
            <a:solidFill>
              <a:srgbClr val="6B72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6"/>
          <p:cNvSpPr/>
          <p:nvPr/>
        </p:nvSpPr>
        <p:spPr>
          <a:xfrm>
            <a:off x="6364224" y="3236976"/>
            <a:ext cx="5943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0.27M ₽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6"/>
          <p:cNvSpPr/>
          <p:nvPr/>
        </p:nvSpPr>
        <p:spPr>
          <a:xfrm>
            <a:off x="841248" y="3648456"/>
            <a:ext cx="960120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08–10.08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6"/>
          <p:cNvSpPr/>
          <p:nvPr/>
        </p:nvSpPr>
        <p:spPr>
          <a:xfrm>
            <a:off x="1847088" y="3602736"/>
            <a:ext cx="1664858" cy="219456"/>
          </a:xfrm>
          <a:prstGeom prst="roundRect">
            <a:avLst>
              <a:gd fmla="val 33333" name="adj"/>
            </a:avLst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6"/>
          <p:cNvSpPr/>
          <p:nvPr/>
        </p:nvSpPr>
        <p:spPr>
          <a:xfrm>
            <a:off x="6364224" y="3621024"/>
            <a:ext cx="5943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1.00M ₽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6"/>
          <p:cNvSpPr/>
          <p:nvPr/>
        </p:nvSpPr>
        <p:spPr>
          <a:xfrm>
            <a:off x="841248" y="4032504"/>
            <a:ext cx="960120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11–21.08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6"/>
          <p:cNvSpPr/>
          <p:nvPr/>
        </p:nvSpPr>
        <p:spPr>
          <a:xfrm>
            <a:off x="1847088" y="3986784"/>
            <a:ext cx="1132768" cy="219456"/>
          </a:xfrm>
          <a:prstGeom prst="roundRect">
            <a:avLst>
              <a:gd fmla="val 33333" name="adj"/>
            </a:avLst>
          </a:prstGeom>
          <a:solidFill>
            <a:srgbClr val="6B7280"/>
          </a:solidFill>
          <a:ln cap="flat" cmpd="sng" w="12700">
            <a:solidFill>
              <a:srgbClr val="6B72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6"/>
          <p:cNvSpPr/>
          <p:nvPr/>
        </p:nvSpPr>
        <p:spPr>
          <a:xfrm>
            <a:off x="6364224" y="4005072"/>
            <a:ext cx="5943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0.68M ₽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6"/>
          <p:cNvSpPr/>
          <p:nvPr/>
        </p:nvSpPr>
        <p:spPr>
          <a:xfrm>
            <a:off x="841248" y="4416552"/>
            <a:ext cx="960120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22–24.08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6"/>
          <p:cNvSpPr/>
          <p:nvPr/>
        </p:nvSpPr>
        <p:spPr>
          <a:xfrm>
            <a:off x="1847088" y="4370832"/>
            <a:ext cx="1374905" cy="219456"/>
          </a:xfrm>
          <a:prstGeom prst="roundRect">
            <a:avLst>
              <a:gd fmla="val 33333" name="adj"/>
            </a:avLst>
          </a:prstGeom>
          <a:solidFill>
            <a:srgbClr val="0F766E"/>
          </a:solidFill>
          <a:ln cap="flat" cmpd="sng" w="12700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6"/>
          <p:cNvSpPr/>
          <p:nvPr/>
        </p:nvSpPr>
        <p:spPr>
          <a:xfrm>
            <a:off x="6364224" y="4389120"/>
            <a:ext cx="5943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0.83M ₽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6"/>
          <p:cNvSpPr/>
          <p:nvPr/>
        </p:nvSpPr>
        <p:spPr>
          <a:xfrm>
            <a:off x="841248" y="4800600"/>
            <a:ext cx="960120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25.08–06.09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6"/>
          <p:cNvSpPr/>
          <p:nvPr/>
        </p:nvSpPr>
        <p:spPr>
          <a:xfrm>
            <a:off x="1847088" y="4754880"/>
            <a:ext cx="4434840" cy="219456"/>
          </a:xfrm>
          <a:prstGeom prst="roundRect">
            <a:avLst>
              <a:gd fmla="val 33333" name="adj"/>
            </a:avLst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6"/>
          <p:cNvSpPr/>
          <p:nvPr/>
        </p:nvSpPr>
        <p:spPr>
          <a:xfrm>
            <a:off x="6364224" y="4773168"/>
            <a:ext cx="5943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2.68M ₽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6"/>
          <p:cNvSpPr/>
          <p:nvPr/>
        </p:nvSpPr>
        <p:spPr>
          <a:xfrm>
            <a:off x="841248" y="5184648"/>
            <a:ext cx="960120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07–10.09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6"/>
          <p:cNvSpPr/>
          <p:nvPr/>
        </p:nvSpPr>
        <p:spPr>
          <a:xfrm>
            <a:off x="1847088" y="5138928"/>
            <a:ext cx="731888" cy="219456"/>
          </a:xfrm>
          <a:prstGeom prst="roundRect">
            <a:avLst>
              <a:gd fmla="val 33333" name="adj"/>
            </a:avLst>
          </a:prstGeom>
          <a:solidFill>
            <a:srgbClr val="6B7280"/>
          </a:solidFill>
          <a:ln cap="flat" cmpd="sng" w="12700">
            <a:solidFill>
              <a:srgbClr val="6B72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6"/>
          <p:cNvSpPr/>
          <p:nvPr/>
        </p:nvSpPr>
        <p:spPr>
          <a:xfrm>
            <a:off x="6364224" y="5157216"/>
            <a:ext cx="5943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0.44M ₽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6"/>
          <p:cNvSpPr/>
          <p:nvPr/>
        </p:nvSpPr>
        <p:spPr>
          <a:xfrm>
            <a:off x="841248" y="5468112"/>
            <a:ext cx="5303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Пики — наблюдаемый факт. Причина — пока гипотеза.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6"/>
          <p:cNvSpPr/>
          <p:nvPr/>
        </p:nvSpPr>
        <p:spPr>
          <a:xfrm>
            <a:off x="7406640" y="2468880"/>
            <a:ext cx="4187952" cy="3154680"/>
          </a:xfrm>
          <a:prstGeom prst="roundRect">
            <a:avLst>
              <a:gd fmla="val 3478" name="adj"/>
            </a:avLst>
          </a:prstGeom>
          <a:solidFill>
            <a:srgbClr val="111827"/>
          </a:solidFill>
          <a:ln cap="flat" cmpd="sng" w="12700">
            <a:solidFill>
              <a:srgbClr val="111827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000000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6"/>
          <p:cNvSpPr/>
          <p:nvPr/>
        </p:nvSpPr>
        <p:spPr>
          <a:xfrm>
            <a:off x="7699248" y="2761488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Ключевой продуктовый сигнал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6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ML старт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Алгоритмы старт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6"/>
          <p:cNvSpPr/>
          <p:nvPr/>
        </p:nvSpPr>
        <p:spPr>
          <a:xfrm>
            <a:off x="8321040" y="4297680"/>
            <a:ext cx="1325880" cy="292608"/>
          </a:xfrm>
          <a:prstGeom prst="roundRect">
            <a:avLst>
              <a:gd fmla="val 46875" name="adj"/>
            </a:avLst>
          </a:prstGeom>
          <a:solidFill>
            <a:srgbClr val="0F766E"/>
          </a:solidFill>
          <a:ln cap="flat" cmpd="sng" w="12700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6"/>
          <p:cNvSpPr/>
          <p:nvPr/>
        </p:nvSpPr>
        <p:spPr>
          <a:xfrm>
            <a:off x="8321040" y="4329684"/>
            <a:ext cx="1325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частый bundle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6"/>
          <p:cNvSpPr/>
          <p:nvPr/>
        </p:nvSpPr>
        <p:spPr>
          <a:xfrm>
            <a:off x="7909560" y="475488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и есть признаки реальной пакетной скидки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6"/>
          <p:cNvSpPr txBox="1"/>
          <p:nvPr>
            <p:ph idx="4294967295" type="sldNum"/>
          </p:nvPr>
        </p:nvSpPr>
        <p:spPr>
          <a:xfrm>
            <a:off x="11475720" y="6437376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6B728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"/>
          <p:cNvSpPr/>
          <p:nvPr/>
        </p:nvSpPr>
        <p:spPr>
          <a:xfrm>
            <a:off x="548640" y="347472"/>
            <a:ext cx="10972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3 • ОГРАНИЧЕНИЯ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7"/>
          <p:cNvSpPr/>
          <p:nvPr/>
        </p:nvSpPr>
        <p:spPr>
          <a:xfrm>
            <a:off x="548640" y="612648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Где заканчиваются данные — и начинается измерение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7"/>
          <p:cNvSpPr/>
          <p:nvPr/>
        </p:nvSpPr>
        <p:spPr>
          <a:xfrm>
            <a:off x="594360" y="1325880"/>
            <a:ext cx="3127248" cy="4251960"/>
          </a:xfrm>
          <a:prstGeom prst="roundRect">
            <a:avLst>
              <a:gd fmla="val 3509" name="adj"/>
            </a:avLst>
          </a:prstGeom>
          <a:solidFill>
            <a:srgbClr val="F0FDF4"/>
          </a:solidFill>
          <a:ln cap="flat" cmpd="sng" w="12700">
            <a:solidFill>
              <a:srgbClr val="BBF7D0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000000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7"/>
          <p:cNvSpPr/>
          <p:nvPr/>
        </p:nvSpPr>
        <p:spPr>
          <a:xfrm>
            <a:off x="795528" y="1572768"/>
            <a:ext cx="1325880" cy="292608"/>
          </a:xfrm>
          <a:prstGeom prst="roundRect">
            <a:avLst>
              <a:gd fmla="val 46875" name="adj"/>
            </a:avLst>
          </a:prstGeom>
          <a:solidFill>
            <a:srgbClr val="059669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7"/>
          <p:cNvSpPr/>
          <p:nvPr/>
        </p:nvSpPr>
        <p:spPr>
          <a:xfrm>
            <a:off x="795528" y="1604772"/>
            <a:ext cx="1325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ЗНАЕМ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7"/>
          <p:cNvSpPr/>
          <p:nvPr/>
        </p:nvSpPr>
        <p:spPr>
          <a:xfrm>
            <a:off x="850392" y="2121408"/>
            <a:ext cx="109728" cy="109728"/>
          </a:xfrm>
          <a:prstGeom prst="ellipse">
            <a:avLst/>
          </a:prstGeom>
          <a:solidFill>
            <a:srgbClr val="059669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7"/>
          <p:cNvSpPr/>
          <p:nvPr/>
        </p:nvSpPr>
        <p:spPr>
          <a:xfrm>
            <a:off x="1069848" y="2011680"/>
            <a:ext cx="2331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продажи / заказы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7"/>
          <p:cNvSpPr/>
          <p:nvPr/>
        </p:nvSpPr>
        <p:spPr>
          <a:xfrm>
            <a:off x="850392" y="2788920"/>
            <a:ext cx="109728" cy="109728"/>
          </a:xfrm>
          <a:prstGeom prst="ellipse">
            <a:avLst/>
          </a:prstGeom>
          <a:solidFill>
            <a:srgbClr val="059669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7"/>
          <p:cNvSpPr/>
          <p:nvPr/>
        </p:nvSpPr>
        <p:spPr>
          <a:xfrm>
            <a:off x="1069848" y="2679192"/>
            <a:ext cx="2331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покупатели и курсы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7"/>
          <p:cNvSpPr/>
          <p:nvPr/>
        </p:nvSpPr>
        <p:spPr>
          <a:xfrm>
            <a:off x="850392" y="3456432"/>
            <a:ext cx="109728" cy="109728"/>
          </a:xfrm>
          <a:prstGeom prst="ellipse">
            <a:avLst/>
          </a:prstGeom>
          <a:solidFill>
            <a:srgbClr val="059669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7"/>
          <p:cNvSpPr/>
          <p:nvPr/>
        </p:nvSpPr>
        <p:spPr>
          <a:xfrm>
            <a:off x="1069848" y="3346704"/>
            <a:ext cx="2331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временные всплески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7"/>
          <p:cNvSpPr/>
          <p:nvPr/>
        </p:nvSpPr>
        <p:spPr>
          <a:xfrm>
            <a:off x="850392" y="4123944"/>
            <a:ext cx="109728" cy="109728"/>
          </a:xfrm>
          <a:prstGeom prst="ellipse">
            <a:avLst/>
          </a:prstGeom>
          <a:solidFill>
            <a:srgbClr val="059669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7"/>
          <p:cNvSpPr/>
          <p:nvPr/>
        </p:nvSpPr>
        <p:spPr>
          <a:xfrm>
            <a:off x="1069848" y="4014216"/>
            <a:ext cx="2331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структуру bundle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7"/>
          <p:cNvSpPr/>
          <p:nvPr/>
        </p:nvSpPr>
        <p:spPr>
          <a:xfrm>
            <a:off x="4096512" y="1325880"/>
            <a:ext cx="3127248" cy="4251960"/>
          </a:xfrm>
          <a:prstGeom prst="roundRect">
            <a:avLst>
              <a:gd fmla="val 3509" name="adj"/>
            </a:avLst>
          </a:prstGeom>
          <a:solidFill>
            <a:srgbClr val="EFF6FF"/>
          </a:solidFill>
          <a:ln cap="flat" cmpd="sng" w="12700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000000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7"/>
          <p:cNvSpPr/>
          <p:nvPr/>
        </p:nvSpPr>
        <p:spPr>
          <a:xfrm>
            <a:off x="4297680" y="1572768"/>
            <a:ext cx="1325880" cy="292608"/>
          </a:xfrm>
          <a:prstGeom prst="roundRect">
            <a:avLst>
              <a:gd fmla="val 46875" name="adj"/>
            </a:avLst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7"/>
          <p:cNvSpPr/>
          <p:nvPr/>
        </p:nvSpPr>
        <p:spPr>
          <a:xfrm>
            <a:off x="4297680" y="1604772"/>
            <a:ext cx="1325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ОЦЕНИВАЕМ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7"/>
          <p:cNvSpPr/>
          <p:nvPr/>
        </p:nvSpPr>
        <p:spPr>
          <a:xfrm>
            <a:off x="4352544" y="2121408"/>
            <a:ext cx="109728" cy="109728"/>
          </a:xfrm>
          <a:prstGeom prst="ellipse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7"/>
          <p:cNvSpPr/>
          <p:nvPr/>
        </p:nvSpPr>
        <p:spPr>
          <a:xfrm>
            <a:off x="4572000" y="2011680"/>
            <a:ext cx="2331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lift относительно baseline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7"/>
          <p:cNvSpPr/>
          <p:nvPr/>
        </p:nvSpPr>
        <p:spPr>
          <a:xfrm>
            <a:off x="4352544" y="2788920"/>
            <a:ext cx="109728" cy="109728"/>
          </a:xfrm>
          <a:prstGeom prst="ellipse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7"/>
          <p:cNvSpPr/>
          <p:nvPr/>
        </p:nvSpPr>
        <p:spPr>
          <a:xfrm>
            <a:off x="4572000" y="2679192"/>
            <a:ext cx="2331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будущий attribution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7"/>
          <p:cNvSpPr/>
          <p:nvPr/>
        </p:nvSpPr>
        <p:spPr>
          <a:xfrm>
            <a:off x="4352544" y="3456432"/>
            <a:ext cx="109728" cy="109728"/>
          </a:xfrm>
          <a:prstGeom prst="ellipse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7"/>
          <p:cNvSpPr/>
          <p:nvPr/>
        </p:nvSpPr>
        <p:spPr>
          <a:xfrm>
            <a:off x="4572000" y="3346704"/>
            <a:ext cx="2331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forecast через backtest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7"/>
          <p:cNvSpPr/>
          <p:nvPr/>
        </p:nvSpPr>
        <p:spPr>
          <a:xfrm>
            <a:off x="4352544" y="4123944"/>
            <a:ext cx="109728" cy="109728"/>
          </a:xfrm>
          <a:prstGeom prst="ellipse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7"/>
          <p:cNvSpPr/>
          <p:nvPr/>
        </p:nvSpPr>
        <p:spPr>
          <a:xfrm>
            <a:off x="4572000" y="4014216"/>
            <a:ext cx="2331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эффект кампании при эксперименте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7"/>
          <p:cNvSpPr/>
          <p:nvPr/>
        </p:nvSpPr>
        <p:spPr>
          <a:xfrm>
            <a:off x="7598664" y="1325880"/>
            <a:ext cx="3127248" cy="4251960"/>
          </a:xfrm>
          <a:prstGeom prst="roundRect">
            <a:avLst>
              <a:gd fmla="val 3509" name="adj"/>
            </a:avLst>
          </a:prstGeom>
          <a:solidFill>
            <a:srgbClr val="FEF2F2"/>
          </a:solidFill>
          <a:ln cap="flat" cmpd="sng" w="12700">
            <a:solidFill>
              <a:srgbClr val="FECACA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000000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7"/>
          <p:cNvSpPr/>
          <p:nvPr/>
        </p:nvSpPr>
        <p:spPr>
          <a:xfrm>
            <a:off x="7799832" y="1572768"/>
            <a:ext cx="1325880" cy="292608"/>
          </a:xfrm>
          <a:prstGeom prst="roundRect">
            <a:avLst>
              <a:gd fmla="val 46875" name="adj"/>
            </a:avLst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7"/>
          <p:cNvSpPr/>
          <p:nvPr/>
        </p:nvSpPr>
        <p:spPr>
          <a:xfrm>
            <a:off x="7799832" y="1604772"/>
            <a:ext cx="1325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НЕ МОЖЕМ УЗНАТЬ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7"/>
          <p:cNvSpPr/>
          <p:nvPr/>
        </p:nvSpPr>
        <p:spPr>
          <a:xfrm>
            <a:off x="7854696" y="2121408"/>
            <a:ext cx="109728" cy="109728"/>
          </a:xfrm>
          <a:prstGeom prst="ellipse">
            <a:avLst/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7"/>
          <p:cNvSpPr/>
          <p:nvPr/>
        </p:nvSpPr>
        <p:spPr>
          <a:xfrm>
            <a:off x="8074152" y="2011680"/>
            <a:ext cx="2331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исторический placement ROMI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7"/>
          <p:cNvSpPr/>
          <p:nvPr/>
        </p:nvSpPr>
        <p:spPr>
          <a:xfrm>
            <a:off x="7854696" y="2788920"/>
            <a:ext cx="109728" cy="109728"/>
          </a:xfrm>
          <a:prstGeom prst="ellipse">
            <a:avLst/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7"/>
          <p:cNvSpPr/>
          <p:nvPr/>
        </p:nvSpPr>
        <p:spPr>
          <a:xfrm>
            <a:off x="8074152" y="2679192"/>
            <a:ext cx="2331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incremental revenue рекламы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7"/>
          <p:cNvSpPr/>
          <p:nvPr/>
        </p:nvSpPr>
        <p:spPr>
          <a:xfrm>
            <a:off x="7854696" y="3456432"/>
            <a:ext cx="109728" cy="109728"/>
          </a:xfrm>
          <a:prstGeom prst="ellipse">
            <a:avLst/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7"/>
          <p:cNvSpPr/>
          <p:nvPr/>
        </p:nvSpPr>
        <p:spPr>
          <a:xfrm>
            <a:off x="8074152" y="3346704"/>
            <a:ext cx="2331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CAC по старым кампаниям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7"/>
          <p:cNvSpPr/>
          <p:nvPr/>
        </p:nvSpPr>
        <p:spPr>
          <a:xfrm>
            <a:off x="7854696" y="4123944"/>
            <a:ext cx="109728" cy="109728"/>
          </a:xfrm>
          <a:prstGeom prst="ellipse">
            <a:avLst/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7"/>
          <p:cNvSpPr/>
          <p:nvPr/>
        </p:nvSpPr>
        <p:spPr>
          <a:xfrm>
            <a:off x="8074152" y="4014216"/>
            <a:ext cx="2331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причину каждого пика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7"/>
          <p:cNvSpPr/>
          <p:nvPr/>
        </p:nvSpPr>
        <p:spPr>
          <a:xfrm>
            <a:off x="914400" y="5925312"/>
            <a:ext cx="102412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Сильное решение не скрывает «unknown» — оно превращает unknown в поля и события, которые начнут логироваться завтра.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7"/>
          <p:cNvSpPr txBox="1"/>
          <p:nvPr>
            <p:ph idx="4294967295" type="sldNum"/>
          </p:nvPr>
        </p:nvSpPr>
        <p:spPr>
          <a:xfrm>
            <a:off x="11475720" y="6437376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6B728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8"/>
          <p:cNvSpPr/>
          <p:nvPr/>
        </p:nvSpPr>
        <p:spPr>
          <a:xfrm>
            <a:off x="548640" y="347472"/>
            <a:ext cx="10972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4 • MVP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8"/>
          <p:cNvSpPr/>
          <p:nvPr/>
        </p:nvSpPr>
        <p:spPr>
          <a:xfrm>
            <a:off x="548640" y="612648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Наш MVP уже закрывает первый слой tracking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8"/>
          <p:cNvSpPr/>
          <p:nvPr/>
        </p:nvSpPr>
        <p:spPr>
          <a:xfrm>
            <a:off x="594360" y="1234440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Не макет. Рабочий контур, который можно связать с аналитикой.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8"/>
          <p:cNvSpPr/>
          <p:nvPr/>
        </p:nvSpPr>
        <p:spPr>
          <a:xfrm>
            <a:off x="594360" y="1847088"/>
            <a:ext cx="3108960" cy="1389888"/>
          </a:xfrm>
          <a:prstGeom prst="roundRect">
            <a:avLst>
              <a:gd fmla="val 7895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000000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8"/>
          <p:cNvSpPr/>
          <p:nvPr/>
        </p:nvSpPr>
        <p:spPr>
          <a:xfrm>
            <a:off x="777240" y="2029968"/>
            <a:ext cx="457200" cy="292608"/>
          </a:xfrm>
          <a:prstGeom prst="roundRect">
            <a:avLst>
              <a:gd fmla="val 46875" name="adj"/>
            </a:avLst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8"/>
          <p:cNvSpPr/>
          <p:nvPr/>
        </p:nvSpPr>
        <p:spPr>
          <a:xfrm>
            <a:off x="777240" y="2061972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8"/>
          <p:cNvSpPr/>
          <p:nvPr/>
        </p:nvSpPr>
        <p:spPr>
          <a:xfrm>
            <a:off x="1344168" y="2029968"/>
            <a:ext cx="2103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Telegram-бот / контур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8"/>
          <p:cNvSpPr/>
          <p:nvPr/>
        </p:nvSpPr>
        <p:spPr>
          <a:xfrm>
            <a:off x="777240" y="2560320"/>
            <a:ext cx="26974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фиксирует вход пользователя в воронку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8"/>
          <p:cNvSpPr/>
          <p:nvPr/>
        </p:nvSpPr>
        <p:spPr>
          <a:xfrm>
            <a:off x="3977640" y="1847088"/>
            <a:ext cx="3108960" cy="1389888"/>
          </a:xfrm>
          <a:prstGeom prst="roundRect">
            <a:avLst>
              <a:gd fmla="val 7895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000000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8"/>
          <p:cNvSpPr/>
          <p:nvPr/>
        </p:nvSpPr>
        <p:spPr>
          <a:xfrm>
            <a:off x="4160520" y="2029968"/>
            <a:ext cx="457200" cy="292608"/>
          </a:xfrm>
          <a:prstGeom prst="roundRect">
            <a:avLst>
              <a:gd fmla="val 46875" name="adj"/>
            </a:avLst>
          </a:prstGeom>
          <a:solidFill>
            <a:srgbClr val="0F766E"/>
          </a:solidFill>
          <a:ln cap="flat" cmpd="sng" w="12700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8"/>
          <p:cNvSpPr/>
          <p:nvPr/>
        </p:nvSpPr>
        <p:spPr>
          <a:xfrm>
            <a:off x="4160520" y="2061972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8"/>
          <p:cNvSpPr/>
          <p:nvPr/>
        </p:nvSpPr>
        <p:spPr>
          <a:xfrm>
            <a:off x="4727448" y="2029968"/>
            <a:ext cx="2103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Уникальные tracking-ссылки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8"/>
          <p:cNvSpPr/>
          <p:nvPr/>
        </p:nvSpPr>
        <p:spPr>
          <a:xfrm>
            <a:off x="4160520" y="2560320"/>
            <a:ext cx="26974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различают источники и placements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8"/>
          <p:cNvSpPr/>
          <p:nvPr/>
        </p:nvSpPr>
        <p:spPr>
          <a:xfrm>
            <a:off x="594360" y="3538728"/>
            <a:ext cx="3108960" cy="1389888"/>
          </a:xfrm>
          <a:prstGeom prst="roundRect">
            <a:avLst>
              <a:gd fmla="val 7895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000000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8"/>
          <p:cNvSpPr/>
          <p:nvPr/>
        </p:nvSpPr>
        <p:spPr>
          <a:xfrm>
            <a:off x="777240" y="3721608"/>
            <a:ext cx="457200" cy="292608"/>
          </a:xfrm>
          <a:prstGeom prst="roundRect">
            <a:avLst>
              <a:gd fmla="val 46875" name="adj"/>
            </a:avLst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8"/>
          <p:cNvSpPr/>
          <p:nvPr/>
        </p:nvSpPr>
        <p:spPr>
          <a:xfrm>
            <a:off x="777240" y="3753612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8"/>
          <p:cNvSpPr/>
          <p:nvPr/>
        </p:nvSpPr>
        <p:spPr>
          <a:xfrm>
            <a:off x="1344168" y="3721608"/>
            <a:ext cx="2103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Промокоды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8"/>
          <p:cNvSpPr/>
          <p:nvPr/>
        </p:nvSpPr>
        <p:spPr>
          <a:xfrm>
            <a:off x="777240" y="4251960"/>
            <a:ext cx="26974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дополнительный сигнал кампании / оффера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8"/>
          <p:cNvSpPr/>
          <p:nvPr/>
        </p:nvSpPr>
        <p:spPr>
          <a:xfrm>
            <a:off x="3977640" y="3538728"/>
            <a:ext cx="3108960" cy="1389888"/>
          </a:xfrm>
          <a:prstGeom prst="roundRect">
            <a:avLst>
              <a:gd fmla="val 7895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000000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8"/>
          <p:cNvSpPr/>
          <p:nvPr/>
        </p:nvSpPr>
        <p:spPr>
          <a:xfrm>
            <a:off x="4160520" y="3721608"/>
            <a:ext cx="457200" cy="292608"/>
          </a:xfrm>
          <a:prstGeom prst="roundRect">
            <a:avLst>
              <a:gd fmla="val 46875" name="adj"/>
            </a:avLst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8"/>
          <p:cNvSpPr/>
          <p:nvPr/>
        </p:nvSpPr>
        <p:spPr>
          <a:xfrm>
            <a:off x="4160520" y="3753612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8"/>
          <p:cNvSpPr/>
          <p:nvPr/>
        </p:nvSpPr>
        <p:spPr>
          <a:xfrm>
            <a:off x="4727448" y="3721608"/>
            <a:ext cx="2103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Admin panel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8"/>
          <p:cNvSpPr/>
          <p:nvPr/>
        </p:nvSpPr>
        <p:spPr>
          <a:xfrm>
            <a:off x="4160520" y="4251960"/>
            <a:ext cx="26974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контроль кампаний и результатов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8"/>
          <p:cNvSpPr/>
          <p:nvPr/>
        </p:nvSpPr>
        <p:spPr>
          <a:xfrm>
            <a:off x="7543800" y="1691640"/>
            <a:ext cx="4050792" cy="3913632"/>
          </a:xfrm>
          <a:prstGeom prst="roundRect">
            <a:avLst>
              <a:gd fmla="val 2804" name="adj"/>
            </a:avLst>
          </a:prstGeom>
          <a:solidFill>
            <a:srgbClr val="111827"/>
          </a:solidFill>
          <a:ln cap="flat" cmpd="sng" w="12700">
            <a:solidFill>
              <a:srgbClr val="111827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000000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8"/>
          <p:cNvSpPr/>
          <p:nvPr/>
        </p:nvSpPr>
        <p:spPr>
          <a:xfrm>
            <a:off x="7845552" y="1938528"/>
            <a:ext cx="3200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Что это даёт аналитике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8"/>
          <p:cNvSpPr/>
          <p:nvPr/>
        </p:nvSpPr>
        <p:spPr>
          <a:xfrm>
            <a:off x="7863840" y="2487168"/>
            <a:ext cx="960120" cy="292608"/>
          </a:xfrm>
          <a:prstGeom prst="roundRect">
            <a:avLst>
              <a:gd fmla="val 46875" name="adj"/>
            </a:avLst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8"/>
          <p:cNvSpPr/>
          <p:nvPr/>
        </p:nvSpPr>
        <p:spPr>
          <a:xfrm>
            <a:off x="7863840" y="2519172"/>
            <a:ext cx="9601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source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3" name="Google Shape;203;p8"/>
          <p:cNvCxnSpPr/>
          <p:nvPr/>
        </p:nvCxnSpPr>
        <p:spPr>
          <a:xfrm>
            <a:off x="8915400" y="2633472"/>
            <a:ext cx="274320" cy="0"/>
          </a:xfrm>
          <a:prstGeom prst="straightConnector1">
            <a:avLst/>
          </a:prstGeom>
          <a:noFill/>
          <a:ln cap="flat" cmpd="sng" w="19050">
            <a:solidFill>
              <a:srgbClr val="64748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04" name="Google Shape;204;p8"/>
          <p:cNvSpPr/>
          <p:nvPr/>
        </p:nvSpPr>
        <p:spPr>
          <a:xfrm>
            <a:off x="9308592" y="2505456"/>
            <a:ext cx="17830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tracking_link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8"/>
          <p:cNvSpPr/>
          <p:nvPr/>
        </p:nvSpPr>
        <p:spPr>
          <a:xfrm>
            <a:off x="7863840" y="3108960"/>
            <a:ext cx="960120" cy="292608"/>
          </a:xfrm>
          <a:prstGeom prst="roundRect">
            <a:avLst>
              <a:gd fmla="val 46875" name="adj"/>
            </a:avLst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8"/>
          <p:cNvSpPr/>
          <p:nvPr/>
        </p:nvSpPr>
        <p:spPr>
          <a:xfrm>
            <a:off x="7863840" y="3140964"/>
            <a:ext cx="9601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user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7" name="Google Shape;207;p8"/>
          <p:cNvCxnSpPr/>
          <p:nvPr/>
        </p:nvCxnSpPr>
        <p:spPr>
          <a:xfrm>
            <a:off x="8915400" y="3255264"/>
            <a:ext cx="274320" cy="0"/>
          </a:xfrm>
          <a:prstGeom prst="straightConnector1">
            <a:avLst/>
          </a:prstGeom>
          <a:noFill/>
          <a:ln cap="flat" cmpd="sng" w="19050">
            <a:solidFill>
              <a:srgbClr val="64748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08" name="Google Shape;208;p8"/>
          <p:cNvSpPr/>
          <p:nvPr/>
        </p:nvSpPr>
        <p:spPr>
          <a:xfrm>
            <a:off x="9308592" y="3127248"/>
            <a:ext cx="17830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anon_user_id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8"/>
          <p:cNvSpPr/>
          <p:nvPr/>
        </p:nvSpPr>
        <p:spPr>
          <a:xfrm>
            <a:off x="7863840" y="3730752"/>
            <a:ext cx="960120" cy="292608"/>
          </a:xfrm>
          <a:prstGeom prst="roundRect">
            <a:avLst>
              <a:gd fmla="val 46875" name="adj"/>
            </a:avLst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8"/>
          <p:cNvSpPr/>
          <p:nvPr/>
        </p:nvSpPr>
        <p:spPr>
          <a:xfrm>
            <a:off x="7863840" y="3762756"/>
            <a:ext cx="9601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lead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1" name="Google Shape;211;p8"/>
          <p:cNvCxnSpPr/>
          <p:nvPr/>
        </p:nvCxnSpPr>
        <p:spPr>
          <a:xfrm>
            <a:off x="8915400" y="3877056"/>
            <a:ext cx="274320" cy="0"/>
          </a:xfrm>
          <a:prstGeom prst="straightConnector1">
            <a:avLst/>
          </a:prstGeom>
          <a:noFill/>
          <a:ln cap="flat" cmpd="sng" w="19050">
            <a:solidFill>
              <a:srgbClr val="64748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12" name="Google Shape;212;p8"/>
          <p:cNvSpPr/>
          <p:nvPr/>
        </p:nvSpPr>
        <p:spPr>
          <a:xfrm>
            <a:off x="9308592" y="3749040"/>
            <a:ext cx="17830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lead_id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8"/>
          <p:cNvSpPr/>
          <p:nvPr/>
        </p:nvSpPr>
        <p:spPr>
          <a:xfrm>
            <a:off x="7863840" y="4352544"/>
            <a:ext cx="960120" cy="292608"/>
          </a:xfrm>
          <a:prstGeom prst="roundRect">
            <a:avLst>
              <a:gd fmla="val 46875" name="adj"/>
            </a:avLst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8"/>
          <p:cNvSpPr/>
          <p:nvPr/>
        </p:nvSpPr>
        <p:spPr>
          <a:xfrm>
            <a:off x="7863840" y="4384548"/>
            <a:ext cx="9601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payment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5" name="Google Shape;215;p8"/>
          <p:cNvCxnSpPr/>
          <p:nvPr/>
        </p:nvCxnSpPr>
        <p:spPr>
          <a:xfrm>
            <a:off x="8915400" y="4498848"/>
            <a:ext cx="274320" cy="0"/>
          </a:xfrm>
          <a:prstGeom prst="straightConnector1">
            <a:avLst/>
          </a:prstGeom>
          <a:noFill/>
          <a:ln cap="flat" cmpd="sng" w="19050">
            <a:solidFill>
              <a:srgbClr val="64748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16" name="Google Shape;216;p8"/>
          <p:cNvSpPr/>
          <p:nvPr/>
        </p:nvSpPr>
        <p:spPr>
          <a:xfrm>
            <a:off x="9308592" y="4370832"/>
            <a:ext cx="17830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order/payment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8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→ touchpoints становятся наблюдаемыми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8"/>
          <p:cNvSpPr txBox="1"/>
          <p:nvPr>
            <p:ph idx="4294967295" type="sldNum"/>
          </p:nvPr>
        </p:nvSpPr>
        <p:spPr>
          <a:xfrm>
            <a:off x="11475720" y="6437376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6B728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9"/>
          <p:cNvSpPr/>
          <p:nvPr/>
        </p:nvSpPr>
        <p:spPr>
          <a:xfrm>
            <a:off x="548640" y="347472"/>
            <a:ext cx="10972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5 • MEASUREMENT ARCHITECTURE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9"/>
          <p:cNvSpPr/>
          <p:nvPr/>
        </p:nvSpPr>
        <p:spPr>
          <a:xfrm>
            <a:off x="548640" y="612648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Из MVP строим единую модель событий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9"/>
          <p:cNvSpPr/>
          <p:nvPr/>
        </p:nvSpPr>
        <p:spPr>
          <a:xfrm>
            <a:off x="594360" y="1207008"/>
            <a:ext cx="10515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Каждое событие отвечает на 5 вопросов: кто → что сделал → когда → откуда → к какой активности.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9"/>
          <p:cNvSpPr/>
          <p:nvPr/>
        </p:nvSpPr>
        <p:spPr>
          <a:xfrm>
            <a:off x="502920" y="2084832"/>
            <a:ext cx="1664208" cy="1207008"/>
          </a:xfrm>
          <a:prstGeom prst="roundRect">
            <a:avLst>
              <a:gd fmla="val 9091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000000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9"/>
          <p:cNvSpPr/>
          <p:nvPr/>
        </p:nvSpPr>
        <p:spPr>
          <a:xfrm>
            <a:off x="594360" y="2322576"/>
            <a:ext cx="148132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CAMPAIGN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9"/>
          <p:cNvSpPr/>
          <p:nvPr/>
        </p:nvSpPr>
        <p:spPr>
          <a:xfrm>
            <a:off x="594360" y="2660904"/>
            <a:ext cx="148132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campaign_id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0" name="Google Shape;230;p9"/>
          <p:cNvCxnSpPr/>
          <p:nvPr/>
        </p:nvCxnSpPr>
        <p:spPr>
          <a:xfrm>
            <a:off x="2194560" y="2688336"/>
            <a:ext cx="201168" cy="0"/>
          </a:xfrm>
          <a:prstGeom prst="straightConnector1">
            <a:avLst/>
          </a:prstGeom>
          <a:noFill/>
          <a:ln cap="flat" cmpd="sng" w="22850">
            <a:solidFill>
              <a:srgbClr val="2563E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31" name="Google Shape;231;p9"/>
          <p:cNvSpPr/>
          <p:nvPr/>
        </p:nvSpPr>
        <p:spPr>
          <a:xfrm>
            <a:off x="2386584" y="2084832"/>
            <a:ext cx="1664208" cy="1207008"/>
          </a:xfrm>
          <a:prstGeom prst="roundRect">
            <a:avLst>
              <a:gd fmla="val 9091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000000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9"/>
          <p:cNvSpPr/>
          <p:nvPr/>
        </p:nvSpPr>
        <p:spPr>
          <a:xfrm>
            <a:off x="2478024" y="2322576"/>
            <a:ext cx="148132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PLACEMENT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9"/>
          <p:cNvSpPr/>
          <p:nvPr/>
        </p:nvSpPr>
        <p:spPr>
          <a:xfrm>
            <a:off x="2478024" y="2660904"/>
            <a:ext cx="148132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placement_id + cost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4" name="Google Shape;234;p9"/>
          <p:cNvCxnSpPr/>
          <p:nvPr/>
        </p:nvCxnSpPr>
        <p:spPr>
          <a:xfrm>
            <a:off x="4078224" y="2688336"/>
            <a:ext cx="201168" cy="0"/>
          </a:xfrm>
          <a:prstGeom prst="straightConnector1">
            <a:avLst/>
          </a:prstGeom>
          <a:noFill/>
          <a:ln cap="flat" cmpd="sng" w="22850">
            <a:solidFill>
              <a:srgbClr val="2563E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35" name="Google Shape;235;p9"/>
          <p:cNvSpPr/>
          <p:nvPr/>
        </p:nvSpPr>
        <p:spPr>
          <a:xfrm>
            <a:off x="4270248" y="2084832"/>
            <a:ext cx="1664208" cy="1207008"/>
          </a:xfrm>
          <a:prstGeom prst="roundRect">
            <a:avLst>
              <a:gd fmla="val 9091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000000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9"/>
          <p:cNvSpPr/>
          <p:nvPr/>
        </p:nvSpPr>
        <p:spPr>
          <a:xfrm>
            <a:off x="4361688" y="2322576"/>
            <a:ext cx="148132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TOUCH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9"/>
          <p:cNvSpPr/>
          <p:nvPr/>
        </p:nvSpPr>
        <p:spPr>
          <a:xfrm>
            <a:off x="4361688" y="2660904"/>
            <a:ext cx="148132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anon_user_id + time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8" name="Google Shape;238;p9"/>
          <p:cNvCxnSpPr/>
          <p:nvPr/>
        </p:nvCxnSpPr>
        <p:spPr>
          <a:xfrm>
            <a:off x="5961888" y="2688336"/>
            <a:ext cx="201168" cy="0"/>
          </a:xfrm>
          <a:prstGeom prst="straightConnector1">
            <a:avLst/>
          </a:prstGeom>
          <a:noFill/>
          <a:ln cap="flat" cmpd="sng" w="22850">
            <a:solidFill>
              <a:srgbClr val="2563E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39" name="Google Shape;239;p9"/>
          <p:cNvSpPr/>
          <p:nvPr/>
        </p:nvSpPr>
        <p:spPr>
          <a:xfrm>
            <a:off x="6153912" y="2084832"/>
            <a:ext cx="1664208" cy="1207008"/>
          </a:xfrm>
          <a:prstGeom prst="roundRect">
            <a:avLst>
              <a:gd fmla="val 9091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000000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9"/>
          <p:cNvSpPr/>
          <p:nvPr/>
        </p:nvSpPr>
        <p:spPr>
          <a:xfrm>
            <a:off x="6245352" y="2322576"/>
            <a:ext cx="148132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LEAD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9"/>
          <p:cNvSpPr/>
          <p:nvPr/>
        </p:nvSpPr>
        <p:spPr>
          <a:xfrm>
            <a:off x="6245352" y="2660904"/>
            <a:ext cx="148132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lead_id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2" name="Google Shape;242;p9"/>
          <p:cNvCxnSpPr/>
          <p:nvPr/>
        </p:nvCxnSpPr>
        <p:spPr>
          <a:xfrm>
            <a:off x="7845552" y="2688336"/>
            <a:ext cx="201168" cy="0"/>
          </a:xfrm>
          <a:prstGeom prst="straightConnector1">
            <a:avLst/>
          </a:prstGeom>
          <a:noFill/>
          <a:ln cap="flat" cmpd="sng" w="22850">
            <a:solidFill>
              <a:srgbClr val="2563E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43" name="Google Shape;243;p9"/>
          <p:cNvSpPr/>
          <p:nvPr/>
        </p:nvSpPr>
        <p:spPr>
          <a:xfrm>
            <a:off x="8037576" y="2084832"/>
            <a:ext cx="1664208" cy="1207008"/>
          </a:xfrm>
          <a:prstGeom prst="roundRect">
            <a:avLst>
              <a:gd fmla="val 9091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000000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9"/>
          <p:cNvSpPr/>
          <p:nvPr/>
        </p:nvSpPr>
        <p:spPr>
          <a:xfrm>
            <a:off x="8129016" y="2322576"/>
            <a:ext cx="148132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PAYMENT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9"/>
          <p:cNvSpPr/>
          <p:nvPr/>
        </p:nvSpPr>
        <p:spPr>
          <a:xfrm>
            <a:off x="8129016" y="2660904"/>
            <a:ext cx="148132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payment_id + order_id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6" name="Google Shape;246;p9"/>
          <p:cNvCxnSpPr/>
          <p:nvPr/>
        </p:nvCxnSpPr>
        <p:spPr>
          <a:xfrm>
            <a:off x="9729216" y="2688336"/>
            <a:ext cx="201168" cy="0"/>
          </a:xfrm>
          <a:prstGeom prst="straightConnector1">
            <a:avLst/>
          </a:prstGeom>
          <a:noFill/>
          <a:ln cap="flat" cmpd="sng" w="22850">
            <a:solidFill>
              <a:srgbClr val="2563E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47" name="Google Shape;247;p9"/>
          <p:cNvSpPr/>
          <p:nvPr/>
        </p:nvSpPr>
        <p:spPr>
          <a:xfrm>
            <a:off x="9921240" y="2084832"/>
            <a:ext cx="1664208" cy="1207008"/>
          </a:xfrm>
          <a:prstGeom prst="roundRect">
            <a:avLst>
              <a:gd fmla="val 9091" name="adj"/>
            </a:avLst>
          </a:prstGeom>
          <a:solidFill>
            <a:srgbClr val="EFFAF7"/>
          </a:solidFill>
          <a:ln cap="flat" cmpd="sng" w="12700">
            <a:solidFill>
              <a:srgbClr val="A7F3D0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000000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9"/>
          <p:cNvSpPr/>
          <p:nvPr/>
        </p:nvSpPr>
        <p:spPr>
          <a:xfrm>
            <a:off x="10012680" y="2322576"/>
            <a:ext cx="148132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59669"/>
                </a:solidFill>
                <a:latin typeface="Arial"/>
                <a:ea typeface="Arial"/>
                <a:cs typeface="Arial"/>
                <a:sym typeface="Arial"/>
              </a:rPr>
              <a:t>REVENUE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9"/>
          <p:cNvSpPr/>
          <p:nvPr/>
        </p:nvSpPr>
        <p:spPr>
          <a:xfrm>
            <a:off x="10012680" y="2660904"/>
            <a:ext cx="148132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order_item + amount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9"/>
          <p:cNvSpPr/>
          <p:nvPr/>
        </p:nvSpPr>
        <p:spPr>
          <a:xfrm>
            <a:off x="594360" y="3749040"/>
            <a:ext cx="5303520" cy="1554480"/>
          </a:xfrm>
          <a:prstGeom prst="roundRect">
            <a:avLst>
              <a:gd fmla="val 7059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000000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9"/>
          <p:cNvSpPr/>
          <p:nvPr/>
        </p:nvSpPr>
        <p:spPr>
          <a:xfrm>
            <a:off x="841248" y="4023360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User stitching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9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tracking_link_id → anon_user_id → lead_id → order_id / payment_id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9"/>
          <p:cNvSpPr/>
          <p:nvPr/>
        </p:nvSpPr>
        <p:spPr>
          <a:xfrm>
            <a:off x="6144768" y="3749040"/>
            <a:ext cx="5449824" cy="1554480"/>
          </a:xfrm>
          <a:prstGeom prst="roundRect">
            <a:avLst>
              <a:gd fmla="val 7059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000000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9"/>
          <p:cNvSpPr/>
          <p:nvPr/>
        </p:nvSpPr>
        <p:spPr>
          <a:xfrm>
            <a:off x="6382512" y="4023360"/>
            <a:ext cx="3474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DC2626"/>
                </a:solidFill>
                <a:latin typeface="Arial"/>
                <a:ea typeface="Arial"/>
                <a:cs typeface="Arial"/>
                <a:sym typeface="Arial"/>
              </a:rPr>
              <a:t>Если deterministic stitching невозможен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9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не приписываем кампании автоматически → unknown / organic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9"/>
          <p:cNvSpPr txBox="1"/>
          <p:nvPr>
            <p:ph idx="4294967295" type="sldNum"/>
          </p:nvPr>
        </p:nvSpPr>
        <p:spPr>
          <a:xfrm>
            <a:off x="11475720" y="6437376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6B728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0"/>
          <p:cNvSpPr/>
          <p:nvPr/>
        </p:nvSpPr>
        <p:spPr>
          <a:xfrm>
            <a:off x="548640" y="347472"/>
            <a:ext cx="10972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6 • ATTRIBUTION &amp; ROMI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10"/>
          <p:cNvSpPr/>
          <p:nvPr/>
        </p:nvSpPr>
        <p:spPr>
          <a:xfrm>
            <a:off x="548640" y="612648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Attribution отвечает «кому приписать», ROMI — «сколько заработали»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10"/>
          <p:cNvSpPr/>
          <p:nvPr/>
        </p:nvSpPr>
        <p:spPr>
          <a:xfrm>
            <a:off x="594360" y="1325880"/>
            <a:ext cx="6492240" cy="4434840"/>
          </a:xfrm>
          <a:prstGeom prst="roundRect">
            <a:avLst>
              <a:gd fmla="val 2474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000000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0"/>
          <p:cNvSpPr/>
          <p:nvPr/>
        </p:nvSpPr>
        <p:spPr>
          <a:xfrm>
            <a:off x="841248" y="1600200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Один заказ может иметь несколько касаний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10"/>
          <p:cNvSpPr/>
          <p:nvPr/>
        </p:nvSpPr>
        <p:spPr>
          <a:xfrm>
            <a:off x="841248" y="2267712"/>
            <a:ext cx="658368" cy="658368"/>
          </a:xfrm>
          <a:prstGeom prst="ellipse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0"/>
          <p:cNvSpPr/>
          <p:nvPr/>
        </p:nvSpPr>
        <p:spPr>
          <a:xfrm>
            <a:off x="841248" y="2441448"/>
            <a:ext cx="65836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8" name="Google Shape;268;p10"/>
          <p:cNvCxnSpPr/>
          <p:nvPr/>
        </p:nvCxnSpPr>
        <p:spPr>
          <a:xfrm>
            <a:off x="1554480" y="2596896"/>
            <a:ext cx="521208" cy="0"/>
          </a:xfrm>
          <a:prstGeom prst="straightConnector1">
            <a:avLst/>
          </a:prstGeom>
          <a:noFill/>
          <a:ln cap="flat" cmpd="sng" w="19050">
            <a:solidFill>
              <a:srgbClr val="6B728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69" name="Google Shape;269;p10"/>
          <p:cNvSpPr/>
          <p:nvPr/>
        </p:nvSpPr>
        <p:spPr>
          <a:xfrm>
            <a:off x="676656" y="3108960"/>
            <a:ext cx="10058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Реклама A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10"/>
          <p:cNvSpPr/>
          <p:nvPr/>
        </p:nvSpPr>
        <p:spPr>
          <a:xfrm>
            <a:off x="2167128" y="2267712"/>
            <a:ext cx="658368" cy="658368"/>
          </a:xfrm>
          <a:prstGeom prst="ellipse">
            <a:avLst/>
          </a:prstGeom>
          <a:solidFill>
            <a:srgbClr val="0F766E"/>
          </a:solidFill>
          <a:ln cap="flat" cmpd="sng" w="12700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0"/>
          <p:cNvSpPr/>
          <p:nvPr/>
        </p:nvSpPr>
        <p:spPr>
          <a:xfrm>
            <a:off x="2167128" y="2441448"/>
            <a:ext cx="65836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2" name="Google Shape;272;p10"/>
          <p:cNvCxnSpPr/>
          <p:nvPr/>
        </p:nvCxnSpPr>
        <p:spPr>
          <a:xfrm>
            <a:off x="2880360" y="2596896"/>
            <a:ext cx="521208" cy="0"/>
          </a:xfrm>
          <a:prstGeom prst="straightConnector1">
            <a:avLst/>
          </a:prstGeom>
          <a:noFill/>
          <a:ln cap="flat" cmpd="sng" w="19050">
            <a:solidFill>
              <a:srgbClr val="6B728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73" name="Google Shape;273;p10"/>
          <p:cNvSpPr/>
          <p:nvPr/>
        </p:nvSpPr>
        <p:spPr>
          <a:xfrm>
            <a:off x="2002536" y="3108960"/>
            <a:ext cx="10058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Основной канал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10"/>
          <p:cNvSpPr/>
          <p:nvPr/>
        </p:nvSpPr>
        <p:spPr>
          <a:xfrm>
            <a:off x="3493008" y="2267712"/>
            <a:ext cx="658368" cy="658368"/>
          </a:xfrm>
          <a:prstGeom prst="ellipse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0"/>
          <p:cNvSpPr/>
          <p:nvPr/>
        </p:nvSpPr>
        <p:spPr>
          <a:xfrm>
            <a:off x="3493008" y="2441448"/>
            <a:ext cx="65836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6" name="Google Shape;276;p10"/>
          <p:cNvCxnSpPr/>
          <p:nvPr/>
        </p:nvCxnSpPr>
        <p:spPr>
          <a:xfrm>
            <a:off x="4206240" y="2596896"/>
            <a:ext cx="521208" cy="0"/>
          </a:xfrm>
          <a:prstGeom prst="straightConnector1">
            <a:avLst/>
          </a:prstGeom>
          <a:noFill/>
          <a:ln cap="flat" cmpd="sng" w="19050">
            <a:solidFill>
              <a:srgbClr val="6B728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77" name="Google Shape;277;p10"/>
          <p:cNvSpPr/>
          <p:nvPr/>
        </p:nvSpPr>
        <p:spPr>
          <a:xfrm>
            <a:off x="3328416" y="3108960"/>
            <a:ext cx="10058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Нативный пост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10"/>
          <p:cNvSpPr/>
          <p:nvPr/>
        </p:nvSpPr>
        <p:spPr>
          <a:xfrm>
            <a:off x="4818888" y="2267712"/>
            <a:ext cx="658368" cy="658368"/>
          </a:xfrm>
          <a:prstGeom prst="ellipse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0"/>
          <p:cNvSpPr/>
          <p:nvPr/>
        </p:nvSpPr>
        <p:spPr>
          <a:xfrm>
            <a:off x="4818888" y="2441448"/>
            <a:ext cx="65836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10"/>
          <p:cNvSpPr/>
          <p:nvPr/>
        </p:nvSpPr>
        <p:spPr>
          <a:xfrm>
            <a:off x="4654296" y="3108960"/>
            <a:ext cx="10058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Промо / скидка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10"/>
          <p:cNvSpPr/>
          <p:nvPr/>
        </p:nvSpPr>
        <p:spPr>
          <a:xfrm>
            <a:off x="841248" y="3776472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Поддерживаемые правила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10"/>
          <p:cNvSpPr/>
          <p:nvPr/>
        </p:nvSpPr>
        <p:spPr>
          <a:xfrm>
            <a:off x="841248" y="4133088"/>
            <a:ext cx="1207008" cy="292608"/>
          </a:xfrm>
          <a:prstGeom prst="roundRect">
            <a:avLst>
              <a:gd fmla="val 46875" name="adj"/>
            </a:avLst>
          </a:prstGeom>
          <a:solidFill>
            <a:srgbClr val="0F766E"/>
          </a:solidFill>
          <a:ln cap="flat" cmpd="sng" w="12700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0"/>
          <p:cNvSpPr/>
          <p:nvPr/>
        </p:nvSpPr>
        <p:spPr>
          <a:xfrm>
            <a:off x="841248" y="4165092"/>
            <a:ext cx="120700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first touch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10"/>
          <p:cNvSpPr/>
          <p:nvPr/>
        </p:nvSpPr>
        <p:spPr>
          <a:xfrm>
            <a:off x="2194560" y="4133088"/>
            <a:ext cx="1207008" cy="292608"/>
          </a:xfrm>
          <a:prstGeom prst="roundRect">
            <a:avLst>
              <a:gd fmla="val 46875" name="adj"/>
            </a:avLst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0"/>
          <p:cNvSpPr/>
          <p:nvPr/>
        </p:nvSpPr>
        <p:spPr>
          <a:xfrm>
            <a:off x="2194560" y="4165092"/>
            <a:ext cx="120700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last touch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10"/>
          <p:cNvSpPr/>
          <p:nvPr/>
        </p:nvSpPr>
        <p:spPr>
          <a:xfrm>
            <a:off x="3547872" y="4133088"/>
            <a:ext cx="1207008" cy="292608"/>
          </a:xfrm>
          <a:prstGeom prst="roundRect">
            <a:avLst>
              <a:gd fmla="val 46875" name="adj"/>
            </a:avLst>
          </a:prstGeom>
          <a:solidFill>
            <a:srgbClr val="0F766E"/>
          </a:solidFill>
          <a:ln cap="flat" cmpd="sng" w="12700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0"/>
          <p:cNvSpPr/>
          <p:nvPr/>
        </p:nvSpPr>
        <p:spPr>
          <a:xfrm>
            <a:off x="3547872" y="4165092"/>
            <a:ext cx="120700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linear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10"/>
          <p:cNvSpPr/>
          <p:nvPr/>
        </p:nvSpPr>
        <p:spPr>
          <a:xfrm>
            <a:off x="841248" y="4553712"/>
            <a:ext cx="1207008" cy="292608"/>
          </a:xfrm>
          <a:prstGeom prst="roundRect">
            <a:avLst>
              <a:gd fmla="val 46875" name="adj"/>
            </a:avLst>
          </a:prstGeom>
          <a:solidFill>
            <a:srgbClr val="0F766E"/>
          </a:solidFill>
          <a:ln cap="flat" cmpd="sng" w="12700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0"/>
          <p:cNvSpPr/>
          <p:nvPr/>
        </p:nvSpPr>
        <p:spPr>
          <a:xfrm>
            <a:off x="841248" y="4585716"/>
            <a:ext cx="120700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time decay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10"/>
          <p:cNvSpPr/>
          <p:nvPr/>
        </p:nvSpPr>
        <p:spPr>
          <a:xfrm>
            <a:off x="2194560" y="4553712"/>
            <a:ext cx="1207008" cy="292608"/>
          </a:xfrm>
          <a:prstGeom prst="roundRect">
            <a:avLst>
              <a:gd fmla="val 46875" name="adj"/>
            </a:avLst>
          </a:prstGeom>
          <a:solidFill>
            <a:srgbClr val="0F766E"/>
          </a:solidFill>
          <a:ln cap="flat" cmpd="sng" w="12700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0"/>
          <p:cNvSpPr/>
          <p:nvPr/>
        </p:nvSpPr>
        <p:spPr>
          <a:xfrm>
            <a:off x="2194560" y="4585716"/>
            <a:ext cx="120700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position based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10"/>
          <p:cNvSpPr/>
          <p:nvPr/>
        </p:nvSpPr>
        <p:spPr>
          <a:xfrm>
            <a:off x="841248" y="5074920"/>
            <a:ext cx="5303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DC2626"/>
                </a:solidFill>
                <a:latin typeface="Arial"/>
                <a:ea typeface="Arial"/>
                <a:cs typeface="Arial"/>
                <a:sym typeface="Arial"/>
              </a:rPr>
              <a:t>Все правила — диагностические. Ни одно не доказывает причинность.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10"/>
          <p:cNvSpPr/>
          <p:nvPr/>
        </p:nvSpPr>
        <p:spPr>
          <a:xfrm>
            <a:off x="7315200" y="1325880"/>
            <a:ext cx="4279392" cy="1965960"/>
          </a:xfrm>
          <a:prstGeom prst="roundRect">
            <a:avLst>
              <a:gd fmla="val 5581" name="adj"/>
            </a:avLst>
          </a:prstGeom>
          <a:solidFill>
            <a:srgbClr val="111827"/>
          </a:solidFill>
          <a:ln cap="flat" cmpd="sng" w="12700">
            <a:solidFill>
              <a:srgbClr val="111827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000000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0"/>
          <p:cNvSpPr/>
          <p:nvPr/>
        </p:nvSpPr>
        <p:spPr>
          <a:xfrm>
            <a:off x="7607808" y="1627632"/>
            <a:ext cx="1554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ROMI_attr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10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(Attributed Revenue − Cost) / Cost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10"/>
          <p:cNvSpPr/>
          <p:nvPr/>
        </p:nvSpPr>
        <p:spPr>
          <a:xfrm>
            <a:off x="7699248" y="2697480"/>
            <a:ext cx="33375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кому приписали случившуюся выручку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10"/>
          <p:cNvSpPr/>
          <p:nvPr/>
        </p:nvSpPr>
        <p:spPr>
          <a:xfrm>
            <a:off x="7315200" y="3493008"/>
            <a:ext cx="4279392" cy="2267712"/>
          </a:xfrm>
          <a:prstGeom prst="roundRect">
            <a:avLst>
              <a:gd fmla="val 4839" name="adj"/>
            </a:avLst>
          </a:prstGeom>
          <a:solidFill>
            <a:srgbClr val="EFF6FF"/>
          </a:solidFill>
          <a:ln cap="flat" cmpd="sng" w="12700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000000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0"/>
          <p:cNvSpPr/>
          <p:nvPr/>
        </p:nvSpPr>
        <p:spPr>
          <a:xfrm>
            <a:off x="7607808" y="3794760"/>
            <a:ext cx="1554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ROMI_inc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10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(Incremental Profit − Cost) / Cost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10"/>
          <p:cNvSpPr/>
          <p:nvPr/>
        </p:nvSpPr>
        <p:spPr>
          <a:xfrm>
            <a:off x="7699248" y="4882896"/>
            <a:ext cx="33375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что реально добавила реклама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10"/>
          <p:cNvSpPr txBox="1"/>
          <p:nvPr>
            <p:ph idx="4294967295" type="sldNum"/>
          </p:nvPr>
        </p:nvSpPr>
        <p:spPr>
          <a:xfrm>
            <a:off x="11475720" y="6437376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6B728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1"/>
          <p:cNvSpPr/>
          <p:nvPr/>
        </p:nvSpPr>
        <p:spPr>
          <a:xfrm>
            <a:off x="548640" y="347472"/>
            <a:ext cx="10972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7 • INCREMENTALITY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11"/>
          <p:cNvSpPr/>
          <p:nvPr/>
        </p:nvSpPr>
        <p:spPr>
          <a:xfrm>
            <a:off x="548640" y="612648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Чтобы узнать causal effect — нужен эксперимент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11"/>
          <p:cNvSpPr/>
          <p:nvPr/>
        </p:nvSpPr>
        <p:spPr>
          <a:xfrm>
            <a:off x="594360" y="1261872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Рост после рекламы ≠ рост из-за рекламы.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11"/>
          <p:cNvSpPr/>
          <p:nvPr/>
        </p:nvSpPr>
        <p:spPr>
          <a:xfrm>
            <a:off x="594360" y="1828800"/>
            <a:ext cx="6720840" cy="3566160"/>
          </a:xfrm>
          <a:prstGeom prst="roundRect">
            <a:avLst>
              <a:gd fmla="val 3077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000000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1"/>
          <p:cNvSpPr/>
          <p:nvPr/>
        </p:nvSpPr>
        <p:spPr>
          <a:xfrm>
            <a:off x="868680" y="2084832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Практический дизайн для следующего запуска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11"/>
          <p:cNvSpPr/>
          <p:nvPr/>
        </p:nvSpPr>
        <p:spPr>
          <a:xfrm>
            <a:off x="868680" y="2523744"/>
            <a:ext cx="2011680" cy="292608"/>
          </a:xfrm>
          <a:prstGeom prst="roundRect">
            <a:avLst>
              <a:gd fmla="val 46875" name="adj"/>
            </a:avLst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1"/>
          <p:cNvSpPr/>
          <p:nvPr/>
        </p:nvSpPr>
        <p:spPr>
          <a:xfrm>
            <a:off x="868680" y="2555748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RANDOMIZED HOLDOUT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11"/>
          <p:cNvSpPr/>
          <p:nvPr/>
        </p:nvSpPr>
        <p:spPr>
          <a:xfrm>
            <a:off x="914400" y="3154680"/>
            <a:ext cx="2743200" cy="594360"/>
          </a:xfrm>
          <a:prstGeom prst="rect">
            <a:avLst/>
          </a:prstGeom>
          <a:solidFill>
            <a:srgbClr val="DBEAFE"/>
          </a:solidFill>
          <a:ln cap="flat" cmpd="sng" w="12700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11"/>
          <p:cNvSpPr/>
          <p:nvPr/>
        </p:nvSpPr>
        <p:spPr>
          <a:xfrm>
            <a:off x="914400" y="3273552"/>
            <a:ext cx="27432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TREATMENT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получает рекламу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6" name="Google Shape;316;p11"/>
          <p:cNvCxnSpPr/>
          <p:nvPr/>
        </p:nvCxnSpPr>
        <p:spPr>
          <a:xfrm>
            <a:off x="3886200" y="3447288"/>
            <a:ext cx="640080" cy="0"/>
          </a:xfrm>
          <a:prstGeom prst="straightConnector1">
            <a:avLst/>
          </a:prstGeom>
          <a:noFill/>
          <a:ln cap="flat" cmpd="sng" w="22850">
            <a:solidFill>
              <a:srgbClr val="6B728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17" name="Google Shape;317;p11"/>
          <p:cNvSpPr/>
          <p:nvPr/>
        </p:nvSpPr>
        <p:spPr>
          <a:xfrm>
            <a:off x="4754880" y="3154680"/>
            <a:ext cx="2148840" cy="594360"/>
          </a:xfrm>
          <a:prstGeom prst="rect">
            <a:avLst/>
          </a:prstGeom>
          <a:solidFill>
            <a:srgbClr val="F3F4F6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1"/>
          <p:cNvSpPr/>
          <p:nvPr/>
        </p:nvSpPr>
        <p:spPr>
          <a:xfrm>
            <a:off x="4754880" y="3273552"/>
            <a:ext cx="21488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CONTROL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не получает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11"/>
          <p:cNvSpPr/>
          <p:nvPr/>
        </p:nvSpPr>
        <p:spPr>
          <a:xfrm>
            <a:off x="896112" y="4096512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Сравниваем: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11"/>
          <p:cNvSpPr/>
          <p:nvPr/>
        </p:nvSpPr>
        <p:spPr>
          <a:xfrm>
            <a:off x="1847088" y="4032504"/>
            <a:ext cx="1700784" cy="292608"/>
          </a:xfrm>
          <a:prstGeom prst="roundRect">
            <a:avLst>
              <a:gd fmla="val 46875" name="adj"/>
            </a:avLst>
          </a:prstGeom>
          <a:solidFill>
            <a:srgbClr val="0F766E"/>
          </a:solidFill>
          <a:ln cap="flat" cmpd="sng" w="12700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1"/>
          <p:cNvSpPr/>
          <p:nvPr/>
        </p:nvSpPr>
        <p:spPr>
          <a:xfrm>
            <a:off x="1847088" y="4064508"/>
            <a:ext cx="170078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revenue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11"/>
          <p:cNvSpPr/>
          <p:nvPr/>
        </p:nvSpPr>
        <p:spPr>
          <a:xfrm>
            <a:off x="3785616" y="4032504"/>
            <a:ext cx="1700784" cy="292608"/>
          </a:xfrm>
          <a:prstGeom prst="roundRect">
            <a:avLst>
              <a:gd fmla="val 46875" name="adj"/>
            </a:avLst>
          </a:prstGeom>
          <a:solidFill>
            <a:srgbClr val="0F766E"/>
          </a:solidFill>
          <a:ln cap="flat" cmpd="sng" w="12700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11"/>
          <p:cNvSpPr/>
          <p:nvPr/>
        </p:nvSpPr>
        <p:spPr>
          <a:xfrm>
            <a:off x="3785616" y="4064508"/>
            <a:ext cx="170078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orders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11"/>
          <p:cNvSpPr/>
          <p:nvPr/>
        </p:nvSpPr>
        <p:spPr>
          <a:xfrm>
            <a:off x="1847088" y="4471416"/>
            <a:ext cx="1700784" cy="292608"/>
          </a:xfrm>
          <a:prstGeom prst="roundRect">
            <a:avLst>
              <a:gd fmla="val 46875" name="adj"/>
            </a:avLst>
          </a:prstGeom>
          <a:solidFill>
            <a:srgbClr val="059669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11"/>
          <p:cNvSpPr/>
          <p:nvPr/>
        </p:nvSpPr>
        <p:spPr>
          <a:xfrm>
            <a:off x="1847088" y="4503420"/>
            <a:ext cx="170078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contribution margin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11"/>
          <p:cNvSpPr/>
          <p:nvPr/>
        </p:nvSpPr>
        <p:spPr>
          <a:xfrm>
            <a:off x="3785616" y="4471416"/>
            <a:ext cx="1700784" cy="292608"/>
          </a:xfrm>
          <a:prstGeom prst="roundRect">
            <a:avLst>
              <a:gd fmla="val 46875" name="adj"/>
            </a:avLst>
          </a:prstGeom>
          <a:solidFill>
            <a:srgbClr val="0F766E"/>
          </a:solidFill>
          <a:ln cap="flat" cmpd="sng" w="12700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11"/>
          <p:cNvSpPr/>
          <p:nvPr/>
        </p:nvSpPr>
        <p:spPr>
          <a:xfrm>
            <a:off x="3785616" y="4503420"/>
            <a:ext cx="170078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confidence interval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11"/>
          <p:cNvSpPr/>
          <p:nvPr/>
        </p:nvSpPr>
        <p:spPr>
          <a:xfrm>
            <a:off x="896112" y="4956048"/>
            <a:ext cx="5669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Дополнительно: DiD / interrupted time series,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если рандомизация операционно невозможна.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11"/>
          <p:cNvSpPr/>
          <p:nvPr/>
        </p:nvSpPr>
        <p:spPr>
          <a:xfrm>
            <a:off x="7571232" y="1828800"/>
            <a:ext cx="4023360" cy="3566160"/>
          </a:xfrm>
          <a:prstGeom prst="roundRect">
            <a:avLst>
              <a:gd fmla="val 3077" name="adj"/>
            </a:avLst>
          </a:prstGeom>
          <a:solidFill>
            <a:srgbClr val="111827"/>
          </a:solidFill>
          <a:ln cap="flat" cmpd="sng" w="12700">
            <a:solidFill>
              <a:srgbClr val="111827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000000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11"/>
          <p:cNvSpPr/>
          <p:nvPr/>
        </p:nvSpPr>
        <p:spPr>
          <a:xfrm>
            <a:off x="7882128" y="2148840"/>
            <a:ext cx="1920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Что получаем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11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incremental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lift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11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а не просто attribution share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11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→ основа для ROMI_inc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11"/>
          <p:cNvSpPr txBox="1"/>
          <p:nvPr>
            <p:ph idx="4294967295" type="sldNum"/>
          </p:nvPr>
        </p:nvSpPr>
        <p:spPr>
          <a:xfrm>
            <a:off x="11475720" y="6437376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6B728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2"/>
          <p:cNvSpPr/>
          <p:nvPr/>
        </p:nvSpPr>
        <p:spPr>
          <a:xfrm>
            <a:off x="548640" y="347472"/>
            <a:ext cx="10972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8 • FORECAST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12"/>
          <p:cNvSpPr/>
          <p:nvPr/>
        </p:nvSpPr>
        <p:spPr>
          <a:xfrm>
            <a:off x="548640" y="612648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Forecast: честный baseline сильнее сложной модели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12"/>
          <p:cNvSpPr/>
          <p:nvPr/>
        </p:nvSpPr>
        <p:spPr>
          <a:xfrm>
            <a:off x="594360" y="1325880"/>
            <a:ext cx="5623560" cy="4434840"/>
          </a:xfrm>
          <a:prstGeom prst="roundRect">
            <a:avLst>
              <a:gd fmla="val 2474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000000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12"/>
          <p:cNvSpPr/>
          <p:nvPr/>
        </p:nvSpPr>
        <p:spPr>
          <a:xfrm>
            <a:off x="868680" y="1627632"/>
            <a:ext cx="4389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Почему не строим нейросеть прямо сейчас?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12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Всего 38 дней истории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12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Слишком короткая история для сложной модели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без риска переобучения и красивого самообмана.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12"/>
          <p:cNvSpPr/>
          <p:nvPr/>
        </p:nvSpPr>
        <p:spPr>
          <a:xfrm>
            <a:off x="868680" y="3538728"/>
            <a:ext cx="2057400" cy="292608"/>
          </a:xfrm>
          <a:prstGeom prst="roundRect">
            <a:avLst>
              <a:gd fmla="val 46875" name="adj"/>
            </a:avLst>
          </a:prstGeom>
          <a:solidFill>
            <a:srgbClr val="0F766E"/>
          </a:solidFill>
          <a:ln cap="flat" cmpd="sng" w="12700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12"/>
          <p:cNvSpPr/>
          <p:nvPr/>
        </p:nvSpPr>
        <p:spPr>
          <a:xfrm>
            <a:off x="868680" y="3570732"/>
            <a:ext cx="2057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NAIVE / MOVING AVERAGE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12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→ time-based backtest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12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→ сравнение с baseline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→ честная оценка ошибки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→ маркетинговые признаки — на будущее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12"/>
          <p:cNvSpPr/>
          <p:nvPr/>
        </p:nvSpPr>
        <p:spPr>
          <a:xfrm>
            <a:off x="6510528" y="1325880"/>
            <a:ext cx="5084064" cy="4434840"/>
          </a:xfrm>
          <a:prstGeom prst="roundRect">
            <a:avLst>
              <a:gd fmla="val 2474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000000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12"/>
          <p:cNvSpPr/>
          <p:nvPr/>
        </p:nvSpPr>
        <p:spPr>
          <a:xfrm>
            <a:off x="6784848" y="1627632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Какие признаки начнём собирать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12"/>
          <p:cNvSpPr/>
          <p:nvPr/>
        </p:nvSpPr>
        <p:spPr>
          <a:xfrm>
            <a:off x="6784848" y="2148840"/>
            <a:ext cx="1737360" cy="292608"/>
          </a:xfrm>
          <a:prstGeom prst="roundRect">
            <a:avLst>
              <a:gd fmla="val 46875" name="adj"/>
            </a:avLst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12"/>
          <p:cNvSpPr/>
          <p:nvPr/>
        </p:nvSpPr>
        <p:spPr>
          <a:xfrm>
            <a:off x="6784848" y="2180844"/>
            <a:ext cx="1737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ad_spend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12"/>
          <p:cNvSpPr/>
          <p:nvPr/>
        </p:nvSpPr>
        <p:spPr>
          <a:xfrm>
            <a:off x="8814816" y="2148840"/>
            <a:ext cx="1737360" cy="292608"/>
          </a:xfrm>
          <a:prstGeom prst="roundRect">
            <a:avLst>
              <a:gd fmla="val 46875" name="adj"/>
            </a:avLst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12"/>
          <p:cNvSpPr/>
          <p:nvPr/>
        </p:nvSpPr>
        <p:spPr>
          <a:xfrm>
            <a:off x="8814816" y="2180844"/>
            <a:ext cx="1737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placements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12"/>
          <p:cNvSpPr/>
          <p:nvPr/>
        </p:nvSpPr>
        <p:spPr>
          <a:xfrm>
            <a:off x="6784848" y="2825496"/>
            <a:ext cx="1737360" cy="292608"/>
          </a:xfrm>
          <a:prstGeom prst="roundRect">
            <a:avLst>
              <a:gd fmla="val 46875" name="adj"/>
            </a:avLst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12"/>
          <p:cNvSpPr/>
          <p:nvPr/>
        </p:nvSpPr>
        <p:spPr>
          <a:xfrm>
            <a:off x="6784848" y="2857500"/>
            <a:ext cx="1737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sale_post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12"/>
          <p:cNvSpPr/>
          <p:nvPr/>
        </p:nvSpPr>
        <p:spPr>
          <a:xfrm>
            <a:off x="8814816" y="2825496"/>
            <a:ext cx="1737360" cy="292608"/>
          </a:xfrm>
          <a:prstGeom prst="roundRect">
            <a:avLst>
              <a:gd fmla="val 46875" name="adj"/>
            </a:avLst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12"/>
          <p:cNvSpPr/>
          <p:nvPr/>
        </p:nvSpPr>
        <p:spPr>
          <a:xfrm>
            <a:off x="8814816" y="2857500"/>
            <a:ext cx="1737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discount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12"/>
          <p:cNvSpPr/>
          <p:nvPr/>
        </p:nvSpPr>
        <p:spPr>
          <a:xfrm>
            <a:off x="6784848" y="3502152"/>
            <a:ext cx="1737360" cy="292608"/>
          </a:xfrm>
          <a:prstGeom prst="roundRect">
            <a:avLst>
              <a:gd fmla="val 46875" name="adj"/>
            </a:avLst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12"/>
          <p:cNvSpPr/>
          <p:nvPr/>
        </p:nvSpPr>
        <p:spPr>
          <a:xfrm>
            <a:off x="6784848" y="3534156"/>
            <a:ext cx="1737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launch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12"/>
          <p:cNvSpPr/>
          <p:nvPr/>
        </p:nvSpPr>
        <p:spPr>
          <a:xfrm>
            <a:off x="8814816" y="3502152"/>
            <a:ext cx="1737360" cy="292608"/>
          </a:xfrm>
          <a:prstGeom prst="roundRect">
            <a:avLst>
              <a:gd fmla="val 46875" name="adj"/>
            </a:avLst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12"/>
          <p:cNvSpPr/>
          <p:nvPr/>
        </p:nvSpPr>
        <p:spPr>
          <a:xfrm>
            <a:off x="8814816" y="3534156"/>
            <a:ext cx="1737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channel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12"/>
          <p:cNvSpPr/>
          <p:nvPr/>
        </p:nvSpPr>
        <p:spPr>
          <a:xfrm>
            <a:off x="6784848" y="4178808"/>
            <a:ext cx="1737360" cy="292608"/>
          </a:xfrm>
          <a:prstGeom prst="roundRect">
            <a:avLst>
              <a:gd fmla="val 46875" name="adj"/>
            </a:avLst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12"/>
          <p:cNvSpPr/>
          <p:nvPr/>
        </p:nvSpPr>
        <p:spPr>
          <a:xfrm>
            <a:off x="6784848" y="4210812"/>
            <a:ext cx="1737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creative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6" name="Google Shape;366;p12"/>
          <p:cNvCxnSpPr/>
          <p:nvPr/>
        </p:nvCxnSpPr>
        <p:spPr>
          <a:xfrm>
            <a:off x="6876288" y="4599432"/>
            <a:ext cx="4160520" cy="0"/>
          </a:xfrm>
          <a:prstGeom prst="straightConnector1">
            <a:avLst/>
          </a:prstGeom>
          <a:noFill/>
          <a:ln cap="flat" cmpd="sng" w="254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7" name="Google Shape;367;p12"/>
          <p:cNvSpPr/>
          <p:nvPr/>
        </p:nvSpPr>
        <p:spPr>
          <a:xfrm>
            <a:off x="6812280" y="4809744"/>
            <a:ext cx="43434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Forecast станет инструментом сценариев,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а не попыткой «угадать рекламу» по 38 дням истории.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12"/>
          <p:cNvSpPr txBox="1"/>
          <p:nvPr>
            <p:ph idx="4294967295" type="sldNum"/>
          </p:nvPr>
        </p:nvSpPr>
        <p:spPr>
          <a:xfrm>
            <a:off x="11475720" y="6437376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6B728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13"/>
          <p:cNvSpPr/>
          <p:nvPr/>
        </p:nvSpPr>
        <p:spPr>
          <a:xfrm>
            <a:off x="548640" y="347472"/>
            <a:ext cx="10972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9 • BUSINESS DECISION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13"/>
          <p:cNvSpPr/>
          <p:nvPr/>
        </p:nvSpPr>
        <p:spPr>
          <a:xfrm>
            <a:off x="548640" y="612648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Что делать с 300 000 ₽? — не угадывать канал, а запустить цикл решения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13"/>
          <p:cNvSpPr/>
          <p:nvPr/>
        </p:nvSpPr>
        <p:spPr>
          <a:xfrm>
            <a:off x="594360" y="1207008"/>
            <a:ext cx="96012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Бюджет распределяем по доказанному incremental ROI.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13"/>
          <p:cNvSpPr/>
          <p:nvPr/>
        </p:nvSpPr>
        <p:spPr>
          <a:xfrm>
            <a:off x="594360" y="1828800"/>
            <a:ext cx="2423160" cy="2423160"/>
          </a:xfrm>
          <a:prstGeom prst="roundRect">
            <a:avLst>
              <a:gd fmla="val 4528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000000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13"/>
          <p:cNvSpPr/>
          <p:nvPr/>
        </p:nvSpPr>
        <p:spPr>
          <a:xfrm>
            <a:off x="777240" y="2039112"/>
            <a:ext cx="384048" cy="292608"/>
          </a:xfrm>
          <a:prstGeom prst="roundRect">
            <a:avLst>
              <a:gd fmla="val 46875" name="adj"/>
            </a:avLst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13"/>
          <p:cNvSpPr/>
          <p:nvPr/>
        </p:nvSpPr>
        <p:spPr>
          <a:xfrm>
            <a:off x="777240" y="2071116"/>
            <a:ext cx="38404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13"/>
          <p:cNvSpPr/>
          <p:nvPr/>
        </p:nvSpPr>
        <p:spPr>
          <a:xfrm>
            <a:off x="777240" y="2487168"/>
            <a:ext cx="20116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Запустить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13"/>
          <p:cNvSpPr/>
          <p:nvPr/>
        </p:nvSpPr>
        <p:spPr>
          <a:xfrm>
            <a:off x="777240" y="3063240"/>
            <a:ext cx="201168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20 placements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с уникальными ID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82" name="Google Shape;382;p13"/>
          <p:cNvCxnSpPr/>
          <p:nvPr/>
        </p:nvCxnSpPr>
        <p:spPr>
          <a:xfrm>
            <a:off x="3063240" y="3063240"/>
            <a:ext cx="274320" cy="0"/>
          </a:xfrm>
          <a:prstGeom prst="straightConnector1">
            <a:avLst/>
          </a:prstGeom>
          <a:noFill/>
          <a:ln cap="flat" cmpd="sng" w="22850">
            <a:solidFill>
              <a:srgbClr val="6B728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83" name="Google Shape;383;p13"/>
          <p:cNvSpPr/>
          <p:nvPr/>
        </p:nvSpPr>
        <p:spPr>
          <a:xfrm>
            <a:off x="3383280" y="1828800"/>
            <a:ext cx="2423160" cy="2423160"/>
          </a:xfrm>
          <a:prstGeom prst="roundRect">
            <a:avLst>
              <a:gd fmla="val 4528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000000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13"/>
          <p:cNvSpPr/>
          <p:nvPr/>
        </p:nvSpPr>
        <p:spPr>
          <a:xfrm>
            <a:off x="3566160" y="2039112"/>
            <a:ext cx="384048" cy="292608"/>
          </a:xfrm>
          <a:prstGeom prst="roundRect">
            <a:avLst>
              <a:gd fmla="val 46875" name="adj"/>
            </a:avLst>
          </a:prstGeom>
          <a:solidFill>
            <a:srgbClr val="0F766E"/>
          </a:solidFill>
          <a:ln cap="flat" cmpd="sng" w="12700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13"/>
          <p:cNvSpPr/>
          <p:nvPr/>
        </p:nvSpPr>
        <p:spPr>
          <a:xfrm>
            <a:off x="3566160" y="2071116"/>
            <a:ext cx="38404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13"/>
          <p:cNvSpPr/>
          <p:nvPr/>
        </p:nvSpPr>
        <p:spPr>
          <a:xfrm>
            <a:off x="3566160" y="2487168"/>
            <a:ext cx="20116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Измерить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13"/>
          <p:cNvSpPr/>
          <p:nvPr/>
        </p:nvSpPr>
        <p:spPr>
          <a:xfrm>
            <a:off x="3566160" y="3063240"/>
            <a:ext cx="201168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touch → lead →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payment → revenue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88" name="Google Shape;388;p13"/>
          <p:cNvCxnSpPr/>
          <p:nvPr/>
        </p:nvCxnSpPr>
        <p:spPr>
          <a:xfrm>
            <a:off x="5852160" y="3063240"/>
            <a:ext cx="274320" cy="0"/>
          </a:xfrm>
          <a:prstGeom prst="straightConnector1">
            <a:avLst/>
          </a:prstGeom>
          <a:noFill/>
          <a:ln cap="flat" cmpd="sng" w="22850">
            <a:solidFill>
              <a:srgbClr val="6B728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89" name="Google Shape;389;p13"/>
          <p:cNvSpPr/>
          <p:nvPr/>
        </p:nvSpPr>
        <p:spPr>
          <a:xfrm>
            <a:off x="6172200" y="1828800"/>
            <a:ext cx="2423160" cy="2423160"/>
          </a:xfrm>
          <a:prstGeom prst="roundRect">
            <a:avLst>
              <a:gd fmla="val 4528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000000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13"/>
          <p:cNvSpPr/>
          <p:nvPr/>
        </p:nvSpPr>
        <p:spPr>
          <a:xfrm>
            <a:off x="6355080" y="2039112"/>
            <a:ext cx="384048" cy="292608"/>
          </a:xfrm>
          <a:prstGeom prst="roundRect">
            <a:avLst>
              <a:gd fmla="val 46875" name="adj"/>
            </a:avLst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13"/>
          <p:cNvSpPr/>
          <p:nvPr/>
        </p:nvSpPr>
        <p:spPr>
          <a:xfrm>
            <a:off x="6355080" y="2071116"/>
            <a:ext cx="38404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13"/>
          <p:cNvSpPr/>
          <p:nvPr/>
        </p:nvSpPr>
        <p:spPr>
          <a:xfrm>
            <a:off x="6355080" y="2487168"/>
            <a:ext cx="20116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Проверить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13"/>
          <p:cNvSpPr/>
          <p:nvPr/>
        </p:nvSpPr>
        <p:spPr>
          <a:xfrm>
            <a:off x="6355080" y="3063240"/>
            <a:ext cx="201168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attribution +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holdout lift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94" name="Google Shape;394;p13"/>
          <p:cNvCxnSpPr/>
          <p:nvPr/>
        </p:nvCxnSpPr>
        <p:spPr>
          <a:xfrm>
            <a:off x="8641080" y="3063240"/>
            <a:ext cx="274320" cy="0"/>
          </a:xfrm>
          <a:prstGeom prst="straightConnector1">
            <a:avLst/>
          </a:prstGeom>
          <a:noFill/>
          <a:ln cap="flat" cmpd="sng" w="22850">
            <a:solidFill>
              <a:srgbClr val="6B728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95" name="Google Shape;395;p13"/>
          <p:cNvSpPr/>
          <p:nvPr/>
        </p:nvSpPr>
        <p:spPr>
          <a:xfrm>
            <a:off x="8961120" y="1828800"/>
            <a:ext cx="2423160" cy="2423160"/>
          </a:xfrm>
          <a:prstGeom prst="roundRect">
            <a:avLst>
              <a:gd fmla="val 4528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000000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13"/>
          <p:cNvSpPr/>
          <p:nvPr/>
        </p:nvSpPr>
        <p:spPr>
          <a:xfrm>
            <a:off x="9144000" y="2039112"/>
            <a:ext cx="384048" cy="292608"/>
          </a:xfrm>
          <a:prstGeom prst="roundRect">
            <a:avLst>
              <a:gd fmla="val 46875" name="adj"/>
            </a:avLst>
          </a:prstGeom>
          <a:solidFill>
            <a:srgbClr val="059669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13"/>
          <p:cNvSpPr/>
          <p:nvPr/>
        </p:nvSpPr>
        <p:spPr>
          <a:xfrm>
            <a:off x="9144000" y="2071116"/>
            <a:ext cx="38404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13"/>
          <p:cNvSpPr/>
          <p:nvPr/>
        </p:nvSpPr>
        <p:spPr>
          <a:xfrm>
            <a:off x="9144000" y="2487168"/>
            <a:ext cx="20116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Перераспределить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13"/>
          <p:cNvSpPr/>
          <p:nvPr/>
        </p:nvSpPr>
        <p:spPr>
          <a:xfrm>
            <a:off x="9144000" y="3063240"/>
            <a:ext cx="201168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больше денег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там, где выше inc. ROI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13"/>
          <p:cNvSpPr/>
          <p:nvPr/>
        </p:nvSpPr>
        <p:spPr>
          <a:xfrm>
            <a:off x="594360" y="4617720"/>
            <a:ext cx="10835640" cy="969264"/>
          </a:xfrm>
          <a:prstGeom prst="roundRect">
            <a:avLst>
              <a:gd fmla="val 11321" name="adj"/>
            </a:avLst>
          </a:prstGeom>
          <a:solidFill>
            <a:srgbClr val="111827"/>
          </a:solidFill>
          <a:ln cap="flat" cmpd="sng" w="12700">
            <a:solidFill>
              <a:srgbClr val="111827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000000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13"/>
          <p:cNvSpPr/>
          <p:nvPr/>
        </p:nvSpPr>
        <p:spPr>
          <a:xfrm>
            <a:off x="868680" y="4855464"/>
            <a:ext cx="1417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Формула решения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13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placement → cost → touches → orders → attributed revenue → incremental effect → contribution margin → marginal ROI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13"/>
          <p:cNvSpPr/>
          <p:nvPr/>
        </p:nvSpPr>
        <p:spPr>
          <a:xfrm>
            <a:off x="914400" y="5897880"/>
            <a:ext cx="10424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Результат: следующий бюджет становится воспроизводимым решением, а не мнением команды.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13"/>
          <p:cNvSpPr txBox="1"/>
          <p:nvPr>
            <p:ph idx="4294967295" type="sldNum"/>
          </p:nvPr>
        </p:nvSpPr>
        <p:spPr>
          <a:xfrm>
            <a:off x="11475720" y="6437376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6B728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