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₽ / день (среднее по периоду)</c:v>
                </c:pt>
              </c:strCache>
            </c:strRef>
          </c:tx>
          <c:spPr>
            <a:solidFill>
              <a:srgbClr val="E8384F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P0
Baseline</c:v>
                </c:pt>
                <c:pt idx="1">
                  <c:v>P1
8–10.08</c:v>
                </c:pt>
                <c:pt idx="2">
                  <c:v>P2
Затишье</c:v>
                </c:pt>
                <c:pt idx="3">
                  <c:v>P3
22.08–3.09</c:v>
                </c:pt>
                <c:pt idx="4">
                  <c:v>P4
4–6.09</c:v>
                </c:pt>
                <c:pt idx="5">
                  <c:v>P5
Спад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67170</c:v>
                </c:pt>
                <c:pt idx="1">
                  <c:v>334899</c:v>
                </c:pt>
                <c:pt idx="2">
                  <c:v>62145</c:v>
                </c:pt>
                <c:pt idx="3">
                  <c:v>181206</c:v>
                </c:pt>
                <c:pt idx="4">
                  <c:v>383448</c:v>
                </c:pt>
                <c:pt idx="5">
                  <c:v>110419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DC-4A79-8930-CA92897FCB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2A2C3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9CA3AF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4151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51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1473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154326" cy="274320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1543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ВНЕ SQL · ХАКАТОН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86000"/>
            <a:ext cx="9875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Поступашки:</a:t>
            </a:r>
            <a:endParaRPr lang="en-US" sz="46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куда исчезает маркетинг?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3434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чёрного ящика воронки к работающей measurement-системе: EDA на реальных данных, attribution, ROMI, честный прогноз и Telegram-бот, который уже трекает касания.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5989320"/>
            <a:ext cx="146304" cy="146304"/>
          </a:xfrm>
          <a:prstGeom prst="ellipse">
            <a:avLst/>
          </a:prstGeom>
          <a:solidFill>
            <a:srgbClr val="5B5D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720" y="6190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6062472"/>
            <a:ext cx="1728216" cy="0"/>
          </a:xfrm>
          <a:prstGeom prst="line">
            <a:avLst/>
          </a:prstGeom>
          <a:noFill/>
          <a:ln w="12700">
            <a:solidFill>
              <a:srgbClr val="5B5D6B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423160" y="5989320"/>
            <a:ext cx="146304" cy="146304"/>
          </a:xfrm>
          <a:prstGeom prst="ellipse">
            <a:avLst/>
          </a:prstGeom>
          <a:solidFill>
            <a:srgbClr val="5B5D6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920240" y="6190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Касание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9464" y="6062472"/>
            <a:ext cx="1728216" cy="0"/>
          </a:xfrm>
          <a:prstGeom prst="line">
            <a:avLst/>
          </a:prstGeom>
          <a:noFill/>
          <a:ln w="12700">
            <a:solidFill>
              <a:srgbClr val="5B5D6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4297680" y="5989320"/>
            <a:ext cx="146304" cy="146304"/>
          </a:xfrm>
          <a:prstGeom prst="ellipse">
            <a:avLst/>
          </a:prstGeom>
          <a:solidFill>
            <a:srgbClr val="E838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94760" y="6190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43984" y="6062472"/>
            <a:ext cx="1728216" cy="0"/>
          </a:xfrm>
          <a:prstGeom prst="line">
            <a:avLst/>
          </a:prstGeom>
          <a:noFill/>
          <a:ln w="12700">
            <a:solidFill>
              <a:srgbClr val="5B5D6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172200" y="5989320"/>
            <a:ext cx="146304" cy="146304"/>
          </a:xfrm>
          <a:prstGeom prst="ellipse">
            <a:avLst/>
          </a:prstGeom>
          <a:solidFill>
            <a:srgbClr val="E8384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669280" y="6190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18504" y="6062472"/>
            <a:ext cx="1728216" cy="0"/>
          </a:xfrm>
          <a:prstGeom prst="line">
            <a:avLst/>
          </a:prstGeom>
          <a:noFill/>
          <a:ln w="12700">
            <a:solidFill>
              <a:srgbClr val="5B5D6B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8046720" y="5989320"/>
            <a:ext cx="146304" cy="146304"/>
          </a:xfrm>
          <a:prstGeom prst="ellipse">
            <a:avLst/>
          </a:prstGeom>
          <a:solidFill>
            <a:srgbClr val="E8384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543800" y="61904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298448" cy="310896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29844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411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Мы видим только нижнюю часть воронки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 умеет фиксировать факт покупки, но исторически почти не логировал маркетинговые касания и источник пользователя.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5128" y="32004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A1B23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5128" y="32004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Реклама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35328" y="3703320"/>
            <a:ext cx="384048" cy="0"/>
          </a:xfrm>
          <a:prstGeom prst="line">
            <a:avLst/>
          </a:prstGeom>
          <a:noFill/>
          <a:ln w="19050">
            <a:solidFill>
              <a:srgbClr val="5B5D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19376" y="32004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A1B23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19376" y="32004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/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919576" y="3703320"/>
            <a:ext cx="384048" cy="0"/>
          </a:xfrm>
          <a:prstGeom prst="line">
            <a:avLst/>
          </a:prstGeom>
          <a:noFill/>
          <a:ln w="19050">
            <a:solidFill>
              <a:srgbClr val="5B5D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03624" y="32004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1A1B23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03624" y="32004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</a:t>
            </a:r>
            <a:endParaRPr lang="en-US" sz="13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03824" y="3703320"/>
            <a:ext cx="384048" cy="0"/>
          </a:xfrm>
          <a:prstGeom prst="line">
            <a:avLst/>
          </a:prstGeom>
          <a:noFill/>
          <a:ln w="19050">
            <a:solidFill>
              <a:srgbClr val="5B5D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87872" y="32004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3A2229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87872" y="32004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888072" y="3703320"/>
            <a:ext cx="384048" cy="0"/>
          </a:xfrm>
          <a:prstGeom prst="line">
            <a:avLst/>
          </a:prstGeom>
          <a:noFill/>
          <a:ln w="19050">
            <a:solidFill>
              <a:srgbClr val="5B5D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2120" y="32004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3A2229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72120" y="32004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872320" y="3703320"/>
            <a:ext cx="384048" cy="0"/>
          </a:xfrm>
          <a:prstGeom prst="line">
            <a:avLst/>
          </a:prstGeom>
          <a:noFill/>
          <a:ln w="19050">
            <a:solidFill>
              <a:srgbClr val="5B5D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56368" y="3200400"/>
            <a:ext cx="1600200" cy="1005840"/>
          </a:xfrm>
          <a:prstGeom prst="roundRect">
            <a:avLst>
              <a:gd name="adj" fmla="val 7273"/>
            </a:avLst>
          </a:prstGeom>
          <a:solidFill>
            <a:srgbClr val="3A2229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56368" y="3200400"/>
            <a:ext cx="1600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Курс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169768" y="4617720"/>
            <a:ext cx="128016" cy="128016"/>
          </a:xfrm>
          <a:prstGeom prst="ellipse">
            <a:avLst/>
          </a:prstGeom>
          <a:solidFill>
            <a:srgbClr val="5B5D6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389224" y="4517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 плохо / не системно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87288" y="4617720"/>
            <a:ext cx="128016" cy="128016"/>
          </a:xfrm>
          <a:prstGeom prst="ellipse">
            <a:avLst/>
          </a:prstGeom>
          <a:solidFill>
            <a:srgbClr val="E8384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6744" y="451713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наблюдаем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4400" y="5257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Главная задача проекта — превратить эту цепочку в измеримую систему.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0515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411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мы знаем на 100%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795 строк · 04.08–10.09.2026 (38 дней) · один связный EDA-проход, без догадок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2464994" cy="1234440"/>
          </a:xfrm>
          <a:prstGeom prst="roundRect">
            <a:avLst>
              <a:gd name="adj" fmla="val 5926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85866" y="2430922"/>
            <a:ext cx="2007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85866" y="2997850"/>
            <a:ext cx="2007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заказов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(правило: разрыв &gt; 1 часа = новый заказ)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5114" y="2423160"/>
            <a:ext cx="2464994" cy="1234440"/>
          </a:xfrm>
          <a:prstGeom prst="roundRect">
            <a:avLst>
              <a:gd name="adj" fmla="val 5926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62340" y="2430922"/>
            <a:ext cx="2007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3662340" y="2997850"/>
            <a:ext cx="2007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уникальных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покупателей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1588" y="2423160"/>
            <a:ext cx="2464994" cy="1234440"/>
          </a:xfrm>
          <a:prstGeom prst="roundRect">
            <a:avLst>
              <a:gd name="adj" fmla="val 5926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38814" y="2430922"/>
            <a:ext cx="2007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24.6%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6538814" y="2997850"/>
            <a:ext cx="2007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заказов — пакеты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(реальная скидка, не совпадение)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78061" y="2423160"/>
            <a:ext cx="2464994" cy="1234440"/>
          </a:xfrm>
          <a:prstGeom prst="roundRect">
            <a:avLst>
              <a:gd name="adj" fmla="val 5926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15287" y="2430922"/>
            <a:ext cx="20077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9415287" y="2997850"/>
            <a:ext cx="20077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покупателей вернулись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5.5 недель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по дням: три периода аномального роста</a:t>
            </a:r>
            <a:endParaRPr lang="en-US" sz="13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548640" y="4343400"/>
          <a:ext cx="11094415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7500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ВОРОНКА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411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Всплески есть. Источника нет.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показывают КОГДА выросли продажи. Не показывают ПОЧЕМУ — источника трафика в таблице физически нет.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393338" cy="3017520"/>
          </a:xfrm>
          <a:prstGeom prst="roundRect">
            <a:avLst>
              <a:gd name="adj" fmla="val 2424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999232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P1 · 8–10.08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401568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×4.6 к фону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023360"/>
            <a:ext cx="28446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Скидка на линейку «Старт». По имеющимся сведениям формально действовала 9–10.08.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5193792"/>
            <a:ext cx="799186" cy="274320"/>
          </a:xfrm>
          <a:prstGeom prst="roundRect">
            <a:avLst>
              <a:gd name="adj" fmla="val 50000"/>
            </a:avLst>
          </a:prstGeom>
          <a:solidFill>
            <a:srgbClr val="8A5A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5193792"/>
            <a:ext cx="799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99178" y="2743200"/>
            <a:ext cx="3393338" cy="3017520"/>
          </a:xfrm>
          <a:prstGeom prst="roundRect">
            <a:avLst>
              <a:gd name="adj" fmla="val 2424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73498" y="2999232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P3 · 22.08–3.09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73498" y="3401568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×2.5 к фону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4673498" y="4023360"/>
            <a:ext cx="28446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Совпадает со стажировкой в Т-Банк и постом про PRO-курсы. Состав курсов подтверждает направление.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73498" y="5193792"/>
            <a:ext cx="799186" cy="274320"/>
          </a:xfrm>
          <a:prstGeom prst="roundRect">
            <a:avLst>
              <a:gd name="adj" fmla="val 50000"/>
            </a:avLst>
          </a:prstGeom>
          <a:solidFill>
            <a:srgbClr val="8A5A1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73498" y="5193792"/>
            <a:ext cx="7991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ГИПОТЕЗА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49717" y="2743200"/>
            <a:ext cx="3393338" cy="3017520"/>
          </a:xfrm>
          <a:prstGeom prst="roundRect">
            <a:avLst>
              <a:gd name="adj" fmla="val 2424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24037" y="2999232"/>
            <a:ext cx="28446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P4 · 4–6.09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524037" y="3401568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×5.2 к фону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524037" y="4023360"/>
            <a:ext cx="284469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нет. Состав курсов почти совпадает с P3 — возможно, вторая волна той же темы.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524037" y="5193792"/>
            <a:ext cx="941832" cy="274320"/>
          </a:xfrm>
          <a:prstGeom prst="roundRect">
            <a:avLst>
              <a:gd name="adj" fmla="val 50000"/>
            </a:avLst>
          </a:prstGeom>
          <a:solidFill>
            <a:srgbClr val="7A253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524037" y="5193792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НЕИЗВЕСТНО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68780" cy="310896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6687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411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model: от касания до выручки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диаграмма ради диаграммы — эта схема буквально реализована в SQLite-базе MVP.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98068" y="26060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98068" y="26060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781148" y="3040380"/>
            <a:ext cx="320040" cy="0"/>
          </a:xfrm>
          <a:prstGeom prst="line">
            <a:avLst/>
          </a:prstGeom>
          <a:noFill/>
          <a:ln w="22225">
            <a:solidFill>
              <a:srgbClr val="E8384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1188" y="26060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01188" y="26060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884268" y="3040380"/>
            <a:ext cx="320040" cy="0"/>
          </a:xfrm>
          <a:prstGeom prst="line">
            <a:avLst/>
          </a:prstGeom>
          <a:noFill/>
          <a:ln w="22225">
            <a:solidFill>
              <a:srgbClr val="E838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04308" y="26060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04308" y="26060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/</a:t>
            </a:r>
            <a:endParaRPr lang="en-US" sz="135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987388" y="3040380"/>
            <a:ext cx="320040" cy="0"/>
          </a:xfrm>
          <a:prstGeom prst="line">
            <a:avLst/>
          </a:prstGeom>
          <a:noFill/>
          <a:ln w="22225">
            <a:solidFill>
              <a:srgbClr val="E8384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07428" y="26060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07428" y="26060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090508" y="3040380"/>
            <a:ext cx="320040" cy="0"/>
          </a:xfrm>
          <a:prstGeom prst="line">
            <a:avLst/>
          </a:prstGeom>
          <a:noFill/>
          <a:ln w="22225">
            <a:solidFill>
              <a:srgbClr val="E8384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10548" y="2606040"/>
            <a:ext cx="1783080" cy="868680"/>
          </a:xfrm>
          <a:prstGeom prst="roundRect">
            <a:avLst>
              <a:gd name="adj" fmla="val 8421"/>
            </a:avLst>
          </a:prstGeom>
          <a:solidFill>
            <a:srgbClr val="3A2229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10548" y="26060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38912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stitching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4754880"/>
            <a:ext cx="34238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— настоящий Telegram id, а не суррогат: самый надёжный способ сшивки, который мы обсуждали.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3938" y="39776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383938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383938" y="438912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Внешняя реклама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383938" y="4754880"/>
            <a:ext cx="34238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/ placement / creative + cost на каждое размещение, диплинк t.me/bot?start=код.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19237" y="3977640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19237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219237" y="4389120"/>
            <a:ext cx="3423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канал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19237" y="4754880"/>
            <a:ext cx="34238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Активация промокода тоже пишется как touch — работает, даже если код просто назвали в эфире.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668780" cy="310896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66878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411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Last-touch, окно 7 дней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impulse-purchase продукт — пользователь читает канал несколько дней перед оплатой.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3454298" cy="1554480"/>
          </a:xfrm>
          <a:prstGeom prst="roundRect">
            <a:avLst>
              <a:gd name="adj" fmla="val 4706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2715768"/>
            <a:ext cx="2942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First-touch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136392"/>
            <a:ext cx="2942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познакомил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2514600"/>
            <a:ext cx="3454298" cy="1554480"/>
          </a:xfrm>
          <a:prstGeom prst="roundRect">
            <a:avLst>
              <a:gd name="adj" fmla="val 4706"/>
            </a:avLst>
          </a:prstGeom>
          <a:solidFill>
            <a:srgbClr val="3A2229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24730" y="2715768"/>
            <a:ext cx="2942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Last-touch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24730" y="3136392"/>
            <a:ext cx="2942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дожал до оплаты — выбрали эту модель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88757" y="2514600"/>
            <a:ext cx="3454298" cy="1554480"/>
          </a:xfrm>
          <a:prstGeom prst="roundRect">
            <a:avLst>
              <a:gd name="adj" fmla="val 4706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44789" y="2715768"/>
            <a:ext cx="29422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44789" y="3136392"/>
            <a:ext cx="2942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Делит выручку поровну между касаниями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94415" cy="1737360"/>
          </a:xfrm>
          <a:prstGeom prst="roundRect">
            <a:avLst>
              <a:gd name="adj" fmla="val 4211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4400" y="4617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Attribution ≠ Incrementality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074920"/>
            <a:ext cx="10362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рекламного поста продажи выросли с 10 до 25 в день. Значит ли это, что реклама дала +15? Нет: «после» не означает «из-за». Attribution — кому мы приписали продажу. Incrementality — появилась ли она благодаря рекламе вообще. Проверяется только экспериментом: A/B, holdout, DiD.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804672" cy="310896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804672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411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Честная формула, а не одно число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4415" cy="914400"/>
          </a:xfrm>
          <a:prstGeom prst="roundRect">
            <a:avLst>
              <a:gd name="adj" fmla="val 8000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783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ROMI = (Attributed Revenue − Marketing Cost) / Marketing Cost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5318608" cy="1600200"/>
          </a:xfrm>
          <a:prstGeom prst="roundRect">
            <a:avLst>
              <a:gd name="adj" fmla="val 4571"/>
            </a:avLst>
          </a:prstGeom>
          <a:solidFill>
            <a:srgbClr val="3A2229"/>
          </a:solidFill>
          <a:ln w="12700">
            <a:solidFill>
              <a:srgbClr val="E8384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20040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ROMI_attr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630168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Считаем сейчас — на основе attribution model: кому приписана уже случившаяся продажа.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24448" y="2971800"/>
            <a:ext cx="5318608" cy="1600200"/>
          </a:xfrm>
          <a:prstGeom prst="roundRect">
            <a:avLst>
              <a:gd name="adj" fmla="val 4571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98768" y="3200400"/>
            <a:ext cx="476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ROMI_inc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598768" y="3630168"/>
            <a:ext cx="476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считаем сейчас — нужен A/B / holdout эксперимент. Это data gap, а не забытая метрика.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Демо-прогон на синтетических касаниях (тестовые данные, не факт):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202936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783080" y="5230368"/>
            <a:ext cx="943897" cy="219456"/>
          </a:xfrm>
          <a:prstGeom prst="roundRect">
            <a:avLst>
              <a:gd name="adj" fmla="val 16667"/>
            </a:avLst>
          </a:prstGeom>
          <a:solidFill>
            <a:srgbClr val="2FBF9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836705" y="520293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-8%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54126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Б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783080" y="5568696"/>
            <a:ext cx="3303639" cy="219456"/>
          </a:xfrm>
          <a:prstGeom prst="roundRect">
            <a:avLst>
              <a:gd name="adj" fmla="val 16667"/>
            </a:avLst>
          </a:prstGeom>
          <a:solidFill>
            <a:srgbClr val="2FBF9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96447" y="55412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-28%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87959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В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783080" y="5907024"/>
            <a:ext cx="5309419" cy="219456"/>
          </a:xfrm>
          <a:prstGeom prst="roundRect">
            <a:avLst>
              <a:gd name="adj" fmla="val 16667"/>
            </a:avLst>
          </a:prstGeom>
          <a:solidFill>
            <a:srgbClr val="2FBF9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202227" y="5879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-45%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2179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Канал Г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783080" y="6245352"/>
            <a:ext cx="7315200" cy="219456"/>
          </a:xfrm>
          <a:prstGeom prst="roundRect">
            <a:avLst>
              <a:gd name="adj" fmla="val 16667"/>
            </a:avLst>
          </a:prstGeom>
          <a:solidFill>
            <a:srgbClr val="2FBF9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208008" y="62179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-62%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175004" cy="310896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17500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411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 дней истории объективно мало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Сравнили naive / seasonal_naive / moving_average_7 честным backtest на последних 10 днях — и не стали усложнять модель.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233%+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729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 лучшего baseline</a:t>
            </a:r>
            <a:endParaRPr lang="en-US" sz="115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1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10-дневном backtest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776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количественное доказательство нехватки истории — а не повод городить сложную модель поверх 38 точек. Сложность модели сама по себе преимуществом не является.</a:t>
            </a:r>
            <a:endParaRPr lang="en-US" sz="1300" dirty="0"/>
          </a:p>
        </p:txBody>
      </p:sp>
      <p:pic>
        <p:nvPicPr>
          <p:cNvPr id="10" name="Image 0" descr="images/forecast_back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514600"/>
            <a:ext cx="722376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681228" cy="310896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681228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411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Всё живёт в Telegram-боте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диаграмма архитектуры — работающая система, которую можно потыкать на защите.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318608" cy="1234440"/>
          </a:xfrm>
          <a:prstGeom prst="roundRect">
            <a:avLst>
              <a:gd name="adj" fmla="val 5926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86207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34440" y="2807208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Deep-link трекинг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227832"/>
            <a:ext cx="480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/start &lt;код&gt; — каждое размещение получает свою ссылку и честно ловится как touch.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324448" y="2606040"/>
            <a:ext cx="5318608" cy="1234440"/>
          </a:xfrm>
          <a:prstGeom prst="roundRect">
            <a:avLst>
              <a:gd name="adj" fmla="val 5926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0480" y="286207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10248" y="2807208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Промокод = тоже touch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580480" y="3227832"/>
            <a:ext cx="480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и там, где ссылку не раздашь — например, код назвали в прямом эфире.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318608" cy="1234440"/>
          </a:xfrm>
          <a:prstGeom prst="roundRect">
            <a:avLst>
              <a:gd name="adj" fmla="val 5926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441655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34440" y="4361688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Admin-панель прямо в чате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4782312"/>
            <a:ext cx="480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/newlink · /romi · /stats · /forecast — метрики там же, где сидит владелец бизнеса весь день.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24448" y="4160520"/>
            <a:ext cx="5318608" cy="1234440"/>
          </a:xfrm>
          <a:prstGeom prst="roundRect">
            <a:avLst>
              <a:gd name="adj" fmla="val 5926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0480" y="441655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010248" y="4361688"/>
            <a:ext cx="440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Импортирует любую таблицу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6580480" y="4782312"/>
            <a:ext cx="480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только base.xlsx — колонки настраиваются, проверено на таблице с другой схемой.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3550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автоматических проверок пройдено (юнит + интеграционные) — до защиты бот честно прогнан руками.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5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792224" cy="310896"/>
          </a:xfrm>
          <a:prstGeom prst="roundRect">
            <a:avLst>
              <a:gd name="adj" fmla="val 50000"/>
            </a:avLst>
          </a:prstGeom>
          <a:solidFill>
            <a:srgbClr val="E838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11480"/>
            <a:ext cx="1792224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10728655" y="41148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5D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300 000 ₽ на рекламу — что дальше?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называем канал. Мы показываем систему принятия решения.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533574" cy="2651760"/>
          </a:xfrm>
          <a:prstGeom prst="roundRect">
            <a:avLst>
              <a:gd name="adj" fmla="val 2887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9443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584448"/>
            <a:ext cx="20763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данные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114800"/>
            <a:ext cx="20763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Включить бота на реальный трафик минимум на 2–3 недели, чтобы touch-данные накопились.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09646" y="4069080"/>
            <a:ext cx="265176" cy="0"/>
          </a:xfrm>
          <a:prstGeom prst="line">
            <a:avLst/>
          </a:prstGeom>
          <a:noFill/>
          <a:ln w="19050">
            <a:solidFill>
              <a:srgbClr val="5B5D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02254" y="2743200"/>
            <a:ext cx="2533574" cy="2651760"/>
          </a:xfrm>
          <a:prstGeom prst="roundRect">
            <a:avLst>
              <a:gd name="adj" fmla="val 2887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30854" y="29443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3630854" y="3584448"/>
            <a:ext cx="20763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Оценить эффект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630854" y="4114800"/>
            <a:ext cx="20763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ROMI_attr по каналам + один A/B-тест на канале с наибольшим объёмом — для честного ROMI_inc.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63260" y="4069080"/>
            <a:ext cx="265176" cy="0"/>
          </a:xfrm>
          <a:prstGeom prst="line">
            <a:avLst/>
          </a:prstGeom>
          <a:noFill/>
          <a:ln w="19050">
            <a:solidFill>
              <a:srgbClr val="5B5D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5868" y="2743200"/>
            <a:ext cx="2533574" cy="2651760"/>
          </a:xfrm>
          <a:prstGeom prst="roundRect">
            <a:avLst>
              <a:gd name="adj" fmla="val 2887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84468" y="29443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484468" y="3584448"/>
            <a:ext cx="20763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Сравнить каналы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6484468" y="4114800"/>
            <a:ext cx="20763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 одной цифре, а с учётом объёма данных: 3 заказа и 30 заказов — разная надёжность вывода.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816873" y="4069080"/>
            <a:ext cx="265176" cy="0"/>
          </a:xfrm>
          <a:prstGeom prst="line">
            <a:avLst/>
          </a:prstGeom>
          <a:noFill/>
          <a:ln w="19050">
            <a:solidFill>
              <a:srgbClr val="5B5D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09481" y="2743200"/>
            <a:ext cx="2533574" cy="2651760"/>
          </a:xfrm>
          <a:prstGeom prst="roundRect">
            <a:avLst>
              <a:gd name="adj" fmla="val 2887"/>
            </a:avLst>
          </a:prstGeom>
          <a:solidFill>
            <a:srgbClr val="1D1E28"/>
          </a:solidFill>
          <a:ln w="12700">
            <a:solidFill>
              <a:srgbClr val="2A2C3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338081" y="2944368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838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9338081" y="3584448"/>
            <a:ext cx="207637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Перераспределить бюджет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9338081" y="4114800"/>
            <a:ext cx="207637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Итеративно: небольшой тест-бюджет на новый лидер, не разовая ставка на весь 300 000 ₽.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i="1" dirty="0">
                <a:solidFill>
                  <a:srgbClr val="C7C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Обнаружить проблему → измерить масштаб → предложить решение → показать MVP.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881</Words>
  <Application>Microsoft Office PowerPoint</Application>
  <PresentationFormat>Широкоэкранный</PresentationFormat>
  <Paragraphs>153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Enheria</cp:lastModifiedBy>
  <cp:revision>2</cp:revision>
  <dcterms:created xsi:type="dcterms:W3CDTF">2026-09-12T19:21:58Z</dcterms:created>
  <dcterms:modified xsi:type="dcterms:W3CDTF">2026-09-12T19:27:15Z</dcterms:modified>
</cp:coreProperties>
</file>